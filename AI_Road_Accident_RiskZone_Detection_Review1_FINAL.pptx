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6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7736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facial age and gender estimation using a lightweight deep learning model. Review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ten sections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face carries age and gender cues; CNNs can learn them. Our system predicts age and gender from a single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core challenges: exact age is hard, image variation, heavy models, and dataset imbalance.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goal precisely, then show the input-to-output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Survey of prior work, their limitations, and how we improve 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open gaps in the literature and our single approach that addresses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concrete project objectives from data preparation through evaluation and 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pipeline from image upload to displayed prediction, plus the datasets and tools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contributions — efficiency, fairness, robustness — and the novelty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 plan across two datasets; numbers to be filled after Review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ownership and the week-by-week work plan, with joint integration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references in IEEE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-8483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77000" y="1541859"/>
            <a:ext cx="438150" cy="47625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6880860" y="1418034"/>
            <a:ext cx="45262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2025" b="1" kern="0" spc="4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MINI PROJECT REVIEW — 1</a:t>
            </a:r>
            <a:endParaRPr lang="en-US" sz="2025" dirty="0"/>
          </a:p>
        </p:txBody>
      </p:sp>
      <p:sp>
        <p:nvSpPr>
          <p:cNvPr id="5" name="Shape 2"/>
          <p:cNvSpPr/>
          <p:nvPr/>
        </p:nvSpPr>
        <p:spPr>
          <a:xfrm>
            <a:off x="11372850" y="1541859"/>
            <a:ext cx="438150" cy="47625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2062356" y="2037159"/>
            <a:ext cx="14163288" cy="840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5850" b="1" kern="0" spc="-75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AI-Driven Road Accident Risk Zone</a:t>
            </a:r>
            <a:endParaRPr lang="en-US" sz="5850" dirty="0"/>
          </a:p>
        </p:txBody>
      </p:sp>
      <p:sp>
        <p:nvSpPr>
          <p:cNvPr id="7" name="Text 4"/>
          <p:cNvSpPr/>
          <p:nvPr/>
        </p:nvSpPr>
        <p:spPr>
          <a:xfrm>
            <a:off x="4633280" y="2972842"/>
            <a:ext cx="9021291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Detection and Real-Time Alert System</a:t>
            </a:r>
            <a:endParaRPr lang="en-US" sz="3750" dirty="0"/>
          </a:p>
        </p:txBody>
      </p:sp>
      <p:sp>
        <p:nvSpPr>
          <p:cNvPr id="8" name="Shape 5"/>
          <p:cNvSpPr/>
          <p:nvPr/>
        </p:nvSpPr>
        <p:spPr>
          <a:xfrm>
            <a:off x="5800279" y="3763417"/>
            <a:ext cx="6687443" cy="600075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04767" y="3877717"/>
            <a:ext cx="627846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75" b="1" kern="0" spc="22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Department of Artificial Intelligence</a:t>
            </a:r>
            <a:endParaRPr lang="en-US" sz="2475" dirty="0"/>
          </a:p>
        </p:txBody>
      </p:sp>
      <p:sp>
        <p:nvSpPr>
          <p:cNvPr id="10" name="Shape 7"/>
          <p:cNvSpPr/>
          <p:nvPr/>
        </p:nvSpPr>
        <p:spPr>
          <a:xfrm>
            <a:off x="4191000" y="4858792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481214" y="5249317"/>
            <a:ext cx="2169468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Navadeep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6574482" y="513501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23EG106B31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9286875" y="4943475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9577089" y="5249317"/>
            <a:ext cx="2169468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 err="1">
                <a:solidFill>
                  <a:srgbClr val="000000"/>
                </a:solidFill>
                <a:latin typeface="Bookman Old Style" pitchFamily="34" charset="0"/>
              </a:rPr>
              <a:t>Inderneel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11670357" y="513501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algn="ctr"/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23EG106B59</a:t>
            </a:r>
            <a:endParaRPr lang="en-US" sz="1875" dirty="0"/>
          </a:p>
        </p:txBody>
      </p:sp>
      <p:sp>
        <p:nvSpPr>
          <p:cNvPr id="16" name="Shape 13"/>
          <p:cNvSpPr/>
          <p:nvPr/>
        </p:nvSpPr>
        <p:spPr>
          <a:xfrm>
            <a:off x="4191000" y="6173242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4633280" y="6525667"/>
            <a:ext cx="201740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</a:rPr>
              <a:t>Rithik Teja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6574482" y="644946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algn="ctr"/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23EG106B60</a:t>
            </a:r>
            <a:endParaRPr lang="en-US" sz="1875" dirty="0"/>
          </a:p>
        </p:txBody>
      </p:sp>
      <p:sp>
        <p:nvSpPr>
          <p:cNvPr id="19" name="Shape 16"/>
          <p:cNvSpPr/>
          <p:nvPr/>
        </p:nvSpPr>
        <p:spPr>
          <a:xfrm>
            <a:off x="9265294" y="6257411"/>
            <a:ext cx="4810125" cy="1104900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7145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9433728" y="6525667"/>
            <a:ext cx="2236629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</a:rPr>
              <a:t>Shanmukh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670357" y="6449467"/>
            <a:ext cx="216946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algn="ctr"/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 No: 23EG106B62</a:t>
            </a:r>
            <a:endParaRPr lang="en-US" sz="1875" dirty="0"/>
          </a:p>
        </p:txBody>
      </p:sp>
      <p:sp>
        <p:nvSpPr>
          <p:cNvPr id="22" name="Text 19"/>
          <p:cNvSpPr/>
          <p:nvPr/>
        </p:nvSpPr>
        <p:spPr>
          <a:xfrm>
            <a:off x="6553937" y="7678192"/>
            <a:ext cx="517997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Guide: </a:t>
            </a:r>
            <a:r>
              <a:rPr lang="en-US" sz="22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Dr./Mr./Ravi Krishna</a:t>
            </a:r>
            <a:endParaRPr lang="en-US" sz="2250" dirty="0"/>
          </a:p>
        </p:txBody>
      </p:sp>
      <p:sp>
        <p:nvSpPr>
          <p:cNvPr id="23" name="Text 20"/>
          <p:cNvSpPr/>
          <p:nvPr/>
        </p:nvSpPr>
        <p:spPr>
          <a:xfrm>
            <a:off x="6024652" y="8078242"/>
            <a:ext cx="623869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</a:rPr>
              <a:t>Designation</a:t>
            </a:r>
            <a:endParaRPr lang="en-US" sz="1875" dirty="0"/>
          </a:p>
        </p:txBody>
      </p:sp>
      <p:sp>
        <p:nvSpPr>
          <p:cNvPr id="24" name="Shape 21"/>
          <p:cNvSpPr/>
          <p:nvPr/>
        </p:nvSpPr>
        <p:spPr>
          <a:xfrm>
            <a:off x="5895380" y="8630692"/>
            <a:ext cx="3767584" cy="514350"/>
          </a:xfrm>
          <a:prstGeom prst="roundRect">
            <a:avLst>
              <a:gd name="adj" fmla="val 50000"/>
            </a:avLst>
          </a:prstGeom>
          <a:solidFill>
            <a:srgbClr val="1E2A55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124616" y="8744992"/>
            <a:ext cx="33091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kern="0" spc="38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Academic Year 2026–27</a:t>
            </a:r>
            <a:endParaRPr lang="en-US" sz="1950" dirty="0"/>
          </a:p>
        </p:txBody>
      </p:sp>
      <p:sp>
        <p:nvSpPr>
          <p:cNvPr id="26" name="Shape 23"/>
          <p:cNvSpPr/>
          <p:nvPr/>
        </p:nvSpPr>
        <p:spPr>
          <a:xfrm>
            <a:off x="9872514" y="8621167"/>
            <a:ext cx="2520107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10129689" y="8744992"/>
            <a:ext cx="200575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kern="0" spc="38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July 2026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10815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644652" y="1333500"/>
            <a:ext cx="160829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OUTLINE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931564" y="1752600"/>
            <a:ext cx="2424723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447800" y="328032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409700" y="328032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2190750" y="3361283"/>
            <a:ext cx="221975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353550" y="297180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9658350" y="328032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9620250" y="328032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1875" dirty="0"/>
          </a:p>
        </p:txBody>
      </p:sp>
      <p:sp>
        <p:nvSpPr>
          <p:cNvPr id="13" name="Text 10"/>
          <p:cNvSpPr/>
          <p:nvPr/>
        </p:nvSpPr>
        <p:spPr>
          <a:xfrm>
            <a:off x="10401300" y="3361283"/>
            <a:ext cx="33731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1143000" y="433194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1447800" y="464046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409700" y="464046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1875" dirty="0"/>
          </a:p>
        </p:txBody>
      </p:sp>
      <p:sp>
        <p:nvSpPr>
          <p:cNvPr id="17" name="Text 14"/>
          <p:cNvSpPr/>
          <p:nvPr/>
        </p:nvSpPr>
        <p:spPr>
          <a:xfrm>
            <a:off x="2190750" y="4721423"/>
            <a:ext cx="307138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Literature Survey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9353550" y="433194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9658350" y="464046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9620250" y="464046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1875" dirty="0"/>
          </a:p>
        </p:txBody>
      </p:sp>
      <p:sp>
        <p:nvSpPr>
          <p:cNvPr id="21" name="Text 18"/>
          <p:cNvSpPr/>
          <p:nvPr/>
        </p:nvSpPr>
        <p:spPr>
          <a:xfrm>
            <a:off x="10401300" y="4721423"/>
            <a:ext cx="2554873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Research Gaps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1143000" y="569208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1447800" y="600060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1409700" y="600060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1875" dirty="0"/>
          </a:p>
        </p:txBody>
      </p:sp>
      <p:sp>
        <p:nvSpPr>
          <p:cNvPr id="25" name="Text 22"/>
          <p:cNvSpPr/>
          <p:nvPr/>
        </p:nvSpPr>
        <p:spPr>
          <a:xfrm>
            <a:off x="2190750" y="6081564"/>
            <a:ext cx="181719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Objectives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9353550" y="5692080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9658350" y="600060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9620250" y="600060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06</a:t>
            </a:r>
            <a:endParaRPr lang="en-US" sz="1875" dirty="0"/>
          </a:p>
        </p:txBody>
      </p:sp>
      <p:sp>
        <p:nvSpPr>
          <p:cNvPr id="29" name="Text 26"/>
          <p:cNvSpPr/>
          <p:nvPr/>
        </p:nvSpPr>
        <p:spPr>
          <a:xfrm>
            <a:off x="10401300" y="6081564"/>
            <a:ext cx="395001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Methodology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1143000" y="7052221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1" name="Shape 28"/>
          <p:cNvSpPr/>
          <p:nvPr/>
        </p:nvSpPr>
        <p:spPr>
          <a:xfrm>
            <a:off x="1447800" y="736074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1409700" y="736074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07</a:t>
            </a:r>
            <a:endParaRPr lang="en-US" sz="1875" dirty="0"/>
          </a:p>
        </p:txBody>
      </p:sp>
      <p:sp>
        <p:nvSpPr>
          <p:cNvPr id="33" name="Text 30"/>
          <p:cNvSpPr/>
          <p:nvPr/>
        </p:nvSpPr>
        <p:spPr>
          <a:xfrm>
            <a:off x="2190750" y="7441704"/>
            <a:ext cx="300409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Contribution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9353550" y="7052221"/>
            <a:ext cx="7791450" cy="1131540"/>
          </a:xfrm>
          <a:prstGeom prst="roundRect">
            <a:avLst>
              <a:gd name="adj" fmla="val 13468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5" name="Shape 32"/>
          <p:cNvSpPr/>
          <p:nvPr/>
        </p:nvSpPr>
        <p:spPr>
          <a:xfrm>
            <a:off x="9658350" y="7360741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9620250" y="736074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08</a:t>
            </a:r>
            <a:endParaRPr lang="en-US" sz="1875" dirty="0"/>
          </a:p>
        </p:txBody>
      </p:sp>
      <p:sp>
        <p:nvSpPr>
          <p:cNvPr id="37" name="Text 34"/>
          <p:cNvSpPr/>
          <p:nvPr/>
        </p:nvSpPr>
        <p:spPr>
          <a:xfrm>
            <a:off x="10401300" y="7441704"/>
            <a:ext cx="359443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Planned Comparison</a:t>
            </a:r>
            <a:endParaRPr lang="en-US" sz="2400" dirty="0"/>
          </a:p>
        </p:txBody>
      </p:sp>
      <p:sp>
        <p:nvSpPr>
          <p:cNvPr id="38" name="Shape 35"/>
          <p:cNvSpPr/>
          <p:nvPr/>
        </p:nvSpPr>
        <p:spPr>
          <a:xfrm>
            <a:off x="1143000" y="8412361"/>
            <a:ext cx="7791450" cy="1131689"/>
          </a:xfrm>
          <a:prstGeom prst="roundRect">
            <a:avLst>
              <a:gd name="adj" fmla="val 13467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1447800" y="8721030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1409700" y="872103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09</a:t>
            </a:r>
            <a:endParaRPr lang="en-US" sz="1875" dirty="0"/>
          </a:p>
        </p:txBody>
      </p:sp>
      <p:sp>
        <p:nvSpPr>
          <p:cNvPr id="41" name="Text 38"/>
          <p:cNvSpPr/>
          <p:nvPr/>
        </p:nvSpPr>
        <p:spPr>
          <a:xfrm>
            <a:off x="2190750" y="8801993"/>
            <a:ext cx="429151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Roles &amp; Work Plan</a:t>
            </a:r>
            <a:endParaRPr lang="en-US" sz="2400" dirty="0"/>
          </a:p>
        </p:txBody>
      </p:sp>
      <p:sp>
        <p:nvSpPr>
          <p:cNvPr id="42" name="Shape 39"/>
          <p:cNvSpPr/>
          <p:nvPr/>
        </p:nvSpPr>
        <p:spPr>
          <a:xfrm>
            <a:off x="9353550" y="8412361"/>
            <a:ext cx="7791450" cy="1131689"/>
          </a:xfrm>
          <a:prstGeom prst="roundRect">
            <a:avLst>
              <a:gd name="adj" fmla="val 13467"/>
            </a:avLst>
          </a:prstGeom>
          <a:solidFill>
            <a:srgbClr val="1E2A55"/>
          </a:solidFill>
          <a:ln/>
          <a:effectLst>
            <a:outerShdw blurRad="190500" dist="76200" dir="5400000" algn="bl" rotWithShape="0">
              <a:srgbClr val="141E3C">
                <a:alpha val="1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43" name="Shape 40"/>
          <p:cNvSpPr/>
          <p:nvPr/>
        </p:nvSpPr>
        <p:spPr>
          <a:xfrm>
            <a:off x="9658350" y="8721030"/>
            <a:ext cx="514350" cy="514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lnSpcReduction="10000"/>
          </a:bodyPr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9620250" y="872103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</a:t>
            </a:r>
            <a:endParaRPr lang="en-US" sz="1875" dirty="0"/>
          </a:p>
        </p:txBody>
      </p:sp>
      <p:sp>
        <p:nvSpPr>
          <p:cNvPr id="45" name="Text 42"/>
          <p:cNvSpPr/>
          <p:nvPr/>
        </p:nvSpPr>
        <p:spPr>
          <a:xfrm>
            <a:off x="10401300" y="8801993"/>
            <a:ext cx="191787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References</a:t>
            </a:r>
            <a:endParaRPr lang="en-US" sz="2400" dirty="0"/>
          </a:p>
        </p:txBody>
      </p:sp>
      <p:sp>
        <p:nvSpPr>
          <p:cNvPr id="46" name="Text 43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7989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479475" y="1333500"/>
            <a:ext cx="19385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OVERVIEW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024933" y="1752600"/>
            <a:ext cx="423798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Introduction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3005565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485900" y="2833092"/>
            <a:ext cx="9359456" cy="1220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6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Road accidents remain one of the leading causes of preventable death worldwide — most crashes cluster around specific </a:t>
            </a:r>
            <a:r>
              <a:rPr lang="en-US" sz="26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high-risk </a:t>
            </a:r>
            <a:r>
              <a:rPr lang="en-US" sz="26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locations and </a:t>
            </a:r>
            <a:r>
              <a:rPr lang="en-US" sz="26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conditions</a:t>
            </a:r>
            <a:r>
              <a:rPr lang="en-US" sz="26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1143000" y="4789242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485900" y="4518422"/>
            <a:ext cx="9359456" cy="1220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Useful for driver safety alerts, traffic-police deployment, urban planning, and insurance risk assessment.</a:t>
            </a:r>
            <a:endParaRPr lang="en-US" sz="2775" dirty="0"/>
          </a:p>
        </p:txBody>
      </p:sp>
      <p:sp>
        <p:nvSpPr>
          <p:cNvPr id="10" name="Shape 7"/>
          <p:cNvSpPr/>
          <p:nvPr/>
        </p:nvSpPr>
        <p:spPr>
          <a:xfrm>
            <a:off x="1143000" y="6072783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485900" y="5879683"/>
            <a:ext cx="9359456" cy="996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Manual black-spot marking is slow, static, and cannot adapt to changing traffic or weather conditions.</a:t>
            </a:r>
            <a:endParaRPr lang="en-US" sz="2775" dirty="0"/>
          </a:p>
        </p:txBody>
      </p:sp>
      <p:sp>
        <p:nvSpPr>
          <p:cNvPr id="12" name="Shape 9"/>
          <p:cNvSpPr/>
          <p:nvPr/>
        </p:nvSpPr>
        <p:spPr>
          <a:xfrm>
            <a:off x="1143000" y="7278886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458190" y="7085786"/>
            <a:ext cx="9359456" cy="9965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ML models can learn accident-prone spatio-temporal patterns directly from historical and live data with high accuracy.</a:t>
            </a:r>
            <a:endParaRPr lang="en-US" sz="2775" dirty="0"/>
          </a:p>
        </p:txBody>
      </p:sp>
      <p:sp>
        <p:nvSpPr>
          <p:cNvPr id="14" name="Shape 11"/>
          <p:cNvSpPr/>
          <p:nvPr/>
        </p:nvSpPr>
        <p:spPr>
          <a:xfrm>
            <a:off x="11049000" y="2943225"/>
            <a:ext cx="6096000" cy="1152525"/>
          </a:xfrm>
          <a:prstGeom prst="roundRect">
            <a:avLst>
              <a:gd name="adj" fmla="val 1487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20955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2585948" y="3171825"/>
            <a:ext cx="3429906" cy="4476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 &amp; Traffic Data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2382304" y="3543300"/>
            <a:ext cx="3356450" cy="4476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records + live feeds</a:t>
            </a: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13977938" y="4295775"/>
            <a:ext cx="31432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3750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↓</a:t>
            </a:r>
            <a:endParaRPr lang="en-US" sz="3750" dirty="0"/>
          </a:p>
        </p:txBody>
      </p:sp>
      <p:sp>
        <p:nvSpPr>
          <p:cNvPr id="18" name="Shape 15"/>
          <p:cNvSpPr/>
          <p:nvPr/>
        </p:nvSpPr>
        <p:spPr>
          <a:xfrm>
            <a:off x="11049000" y="4800600"/>
            <a:ext cx="6096000" cy="1152525"/>
          </a:xfrm>
          <a:prstGeom prst="roundRect">
            <a:avLst>
              <a:gd name="adj" fmla="val 1487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20955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2585948" y="5067300"/>
            <a:ext cx="332415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Machine Learning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12585948" y="5419725"/>
            <a:ext cx="332415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Clustering + risk classification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3977938" y="6124575"/>
            <a:ext cx="31432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3750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↓</a:t>
            </a:r>
            <a:endParaRPr lang="en-US" sz="3750" dirty="0"/>
          </a:p>
        </p:txBody>
      </p:sp>
      <p:sp>
        <p:nvSpPr>
          <p:cNvPr id="22" name="Shape 19"/>
          <p:cNvSpPr/>
          <p:nvPr/>
        </p:nvSpPr>
        <p:spPr>
          <a:xfrm>
            <a:off x="11049000" y="6629400"/>
            <a:ext cx="6096000" cy="1171575"/>
          </a:xfrm>
          <a:prstGeom prst="roundRect">
            <a:avLst>
              <a:gd name="adj" fmla="val 14634"/>
            </a:avLst>
          </a:prstGeom>
          <a:solidFill>
            <a:srgbClr val="1E2A55"/>
          </a:solidFill>
          <a:ln/>
          <a:effectLst>
            <a:outerShdw blurRad="247650" dist="114300" dir="5400000" algn="bl" rotWithShape="0">
              <a:srgbClr val="141E3C">
                <a:alpha val="2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2851160" y="6896100"/>
            <a:ext cx="27406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+ Alert</a:t>
            </a:r>
            <a:endParaRPr lang="en-US" sz="2475" dirty="0"/>
          </a:p>
        </p:txBody>
      </p:sp>
      <p:sp>
        <p:nvSpPr>
          <p:cNvPr id="24" name="Text 21"/>
          <p:cNvSpPr/>
          <p:nvPr/>
        </p:nvSpPr>
        <p:spPr>
          <a:xfrm>
            <a:off x="12851160" y="7267575"/>
            <a:ext cx="27406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Zone map &amp; live notification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7663011"/>
            <a:ext cx="9429750" cy="1919139"/>
          </a:xfrm>
          <a:prstGeom prst="roundRect">
            <a:avLst>
              <a:gd name="adj" fmla="val 6948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Shape 23"/>
          <p:cNvSpPr/>
          <p:nvPr/>
        </p:nvSpPr>
        <p:spPr>
          <a:xfrm>
            <a:off x="1143000" y="7663011"/>
            <a:ext cx="76200" cy="1919139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1524000" y="7910661"/>
            <a:ext cx="9006269" cy="14619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project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builds an AI-driven system that detects road accident </a:t>
            </a: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zones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 </a:t>
            </a:r>
            <a:r>
              <a:rPr lang="en-US" sz="27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issues real-time alerts </a:t>
            </a: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drivers before they enter danger.</a:t>
            </a:r>
            <a:endParaRPr lang="en-US" sz="2775" dirty="0"/>
          </a:p>
        </p:txBody>
      </p:sp>
      <p:sp>
        <p:nvSpPr>
          <p:cNvPr id="28" name="Text 2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7163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280559" y="1333500"/>
            <a:ext cx="233648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MOTIVATION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041795" y="1752600"/>
            <a:ext cx="4204261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Problem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300990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514475" y="3343275"/>
            <a:ext cx="389353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Reactive Safety Measures</a:t>
            </a:r>
            <a:endParaRPr lang="en-US" sz="2475" dirty="0"/>
          </a:p>
        </p:txBody>
      </p:sp>
      <p:sp>
        <p:nvSpPr>
          <p:cNvPr id="8" name="Text 5"/>
          <p:cNvSpPr/>
          <p:nvPr/>
        </p:nvSpPr>
        <p:spPr>
          <a:xfrm>
            <a:off x="1514475" y="3867150"/>
            <a:ext cx="7299198" cy="96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Black spots are identified only after accidents occur — prevention happens too late.</a:t>
            </a:r>
            <a:endParaRPr lang="en-US" sz="2775" dirty="0"/>
          </a:p>
        </p:txBody>
      </p:sp>
      <p:sp>
        <p:nvSpPr>
          <p:cNvPr id="9" name="Shape 6"/>
          <p:cNvSpPr/>
          <p:nvPr/>
        </p:nvSpPr>
        <p:spPr>
          <a:xfrm>
            <a:off x="9315450" y="300990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9686925" y="3343275"/>
            <a:ext cx="304977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Fragmented Data Sources</a:t>
            </a:r>
            <a:endParaRPr lang="en-US" sz="2475" dirty="0"/>
          </a:p>
        </p:txBody>
      </p:sp>
      <p:sp>
        <p:nvSpPr>
          <p:cNvPr id="11" name="Text 8"/>
          <p:cNvSpPr/>
          <p:nvPr/>
        </p:nvSpPr>
        <p:spPr>
          <a:xfrm>
            <a:off x="9686925" y="3867150"/>
            <a:ext cx="7299198" cy="1433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Accident, traffic, weather, and road-condition data are stored in silos, rarely fused for prediction.</a:t>
            </a:r>
            <a:endParaRPr lang="en-US" sz="2775" dirty="0"/>
          </a:p>
        </p:txBody>
      </p:sp>
      <p:sp>
        <p:nvSpPr>
          <p:cNvPr id="12" name="Shape 9"/>
          <p:cNvSpPr/>
          <p:nvPr/>
        </p:nvSpPr>
        <p:spPr>
          <a:xfrm>
            <a:off x="1143000" y="641985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514475" y="6753225"/>
            <a:ext cx="248267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Risk Maps</a:t>
            </a:r>
            <a:endParaRPr lang="en-US" sz="2475" dirty="0"/>
          </a:p>
        </p:txBody>
      </p:sp>
      <p:sp>
        <p:nvSpPr>
          <p:cNvPr id="14" name="Text 11"/>
          <p:cNvSpPr/>
          <p:nvPr/>
        </p:nvSpPr>
        <p:spPr>
          <a:xfrm>
            <a:off x="1514475" y="7277100"/>
            <a:ext cx="7299198" cy="1433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Existing hotspot maps don't update with real-time traffic, weather, or time-of-day conditions.</a:t>
            </a:r>
            <a:endParaRPr lang="en-US" sz="2775" dirty="0"/>
          </a:p>
        </p:txBody>
      </p:sp>
      <p:sp>
        <p:nvSpPr>
          <p:cNvPr id="15" name="Shape 12"/>
          <p:cNvSpPr/>
          <p:nvPr/>
        </p:nvSpPr>
        <p:spPr>
          <a:xfrm>
            <a:off x="9315450" y="6419850"/>
            <a:ext cx="7829550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9686925" y="6753225"/>
            <a:ext cx="333315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Advance Driver Warning</a:t>
            </a:r>
            <a:endParaRPr lang="en-US" sz="2475" dirty="0"/>
          </a:p>
        </p:txBody>
      </p:sp>
      <p:sp>
        <p:nvSpPr>
          <p:cNvPr id="17" name="Text 14"/>
          <p:cNvSpPr/>
          <p:nvPr/>
        </p:nvSpPr>
        <p:spPr>
          <a:xfrm>
            <a:off x="9686925" y="7277100"/>
            <a:ext cx="7299198" cy="1433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Drivers get no proactive alert before entering high-risk stretches, especially at night or low visibility.</a:t>
            </a:r>
            <a:endParaRPr lang="en-US" sz="2775" dirty="0"/>
          </a:p>
        </p:txBody>
      </p:sp>
      <p:sp>
        <p:nvSpPr>
          <p:cNvPr id="18" name="Text 1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39390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965406" y="1333500"/>
            <a:ext cx="9667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GOAL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920703" y="1752600"/>
            <a:ext cx="6446446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 Statement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16002000" cy="3148013"/>
          </a:xfrm>
          <a:prstGeom prst="roundRect">
            <a:avLst>
              <a:gd name="adj" fmla="val 6051"/>
            </a:avLst>
          </a:prstGeom>
          <a:solidFill>
            <a:srgbClr val="1E2A55"/>
          </a:solidFill>
          <a:ln/>
          <a:effectLst>
            <a:outerShdw blurRad="285750" dist="133350" dir="5400000" algn="bl" rotWithShape="0">
              <a:srgbClr val="141E3C">
                <a:alpha val="2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657350" y="3409950"/>
            <a:ext cx="15422499" cy="2309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Design and develop an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AI-driven risk-zone detection and alert system 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that fuses historical accident records with real-time traffic, weather, and location data to identify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high-risk road zones 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 proactively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notify drivers and traffic authorities 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before a vehicle enters a dangerous stretch — while remaining lightweight and </a:t>
            </a:r>
            <a:r>
              <a:rPr lang="en-US" sz="3150" b="1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responsive enough for real-time deployment</a:t>
            </a:r>
            <a:r>
              <a:rPr lang="en-US" sz="315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.</a:t>
            </a:r>
            <a:endParaRPr lang="en-US" sz="3150" dirty="0"/>
          </a:p>
        </p:txBody>
      </p:sp>
      <p:sp>
        <p:nvSpPr>
          <p:cNvPr id="8" name="Shape 5"/>
          <p:cNvSpPr/>
          <p:nvPr/>
        </p:nvSpPr>
        <p:spPr>
          <a:xfrm>
            <a:off x="1143000" y="6858000"/>
            <a:ext cx="4376738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9050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196578" y="7105650"/>
            <a:ext cx="426958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+ Live Data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196578" y="7496175"/>
            <a:ext cx="42695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 records, GPS, weather</a:t>
            </a:r>
            <a:endParaRPr lang="en-US" sz="1725" dirty="0"/>
          </a:p>
        </p:txBody>
      </p:sp>
      <p:sp>
        <p:nvSpPr>
          <p:cNvPr id="11" name="Text 8"/>
          <p:cNvSpPr/>
          <p:nvPr/>
        </p:nvSpPr>
        <p:spPr>
          <a:xfrm>
            <a:off x="5805488" y="7181850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900" dirty="0"/>
          </a:p>
        </p:txBody>
      </p:sp>
      <p:sp>
        <p:nvSpPr>
          <p:cNvPr id="12" name="Shape 9"/>
          <p:cNvSpPr/>
          <p:nvPr/>
        </p:nvSpPr>
        <p:spPr>
          <a:xfrm>
            <a:off x="6586538" y="6858000"/>
            <a:ext cx="5153025" cy="1143000"/>
          </a:xfrm>
          <a:prstGeom prst="roundRect">
            <a:avLst>
              <a:gd name="adj" fmla="val 13333"/>
            </a:avLst>
          </a:prstGeom>
          <a:solidFill>
            <a:srgbClr val="EEF1F8"/>
          </a:solidFill>
          <a:ln w="19050">
            <a:solidFill>
              <a:srgbClr val="1E2A55"/>
            </a:solidFill>
            <a:prstDash val="solid"/>
          </a:ln>
          <a:effectLst>
            <a:outerShdw blurRad="190500" dist="7620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6601301" y="7105650"/>
            <a:ext cx="512349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Clustering + Risk Model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601301" y="7496175"/>
            <a:ext cx="51234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Grids + HistGradientBoosting</a:t>
            </a:r>
            <a:endParaRPr lang="en-US" sz="1725" dirty="0"/>
          </a:p>
        </p:txBody>
      </p:sp>
      <p:sp>
        <p:nvSpPr>
          <p:cNvPr id="15" name="Text 12"/>
          <p:cNvSpPr/>
          <p:nvPr/>
        </p:nvSpPr>
        <p:spPr>
          <a:xfrm>
            <a:off x="12025313" y="7181850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900" dirty="0"/>
          </a:p>
        </p:txBody>
      </p:sp>
      <p:sp>
        <p:nvSpPr>
          <p:cNvPr id="16" name="Shape 13"/>
          <p:cNvSpPr/>
          <p:nvPr/>
        </p:nvSpPr>
        <p:spPr>
          <a:xfrm>
            <a:off x="12806363" y="6877050"/>
            <a:ext cx="4338638" cy="1104900"/>
          </a:xfrm>
          <a:prstGeom prst="roundRect">
            <a:avLst>
              <a:gd name="adj" fmla="val 13793"/>
            </a:avLst>
          </a:prstGeom>
          <a:solidFill>
            <a:srgbClr val="1E2A55"/>
          </a:solidFill>
          <a:ln/>
          <a:effectLst>
            <a:outerShdw blurRad="209550" dist="9525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2840891" y="7105650"/>
            <a:ext cx="426958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+ Alert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2840891" y="7496175"/>
            <a:ext cx="42695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Map &amp; live notification</a:t>
            </a:r>
            <a:endParaRPr lang="en-US" sz="1725" dirty="0"/>
          </a:p>
        </p:txBody>
      </p:sp>
      <p:sp>
        <p:nvSpPr>
          <p:cNvPr id="19" name="Shape 16"/>
          <p:cNvSpPr/>
          <p:nvPr/>
        </p:nvSpPr>
        <p:spPr>
          <a:xfrm>
            <a:off x="1143000" y="8543925"/>
            <a:ext cx="5800725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400175" y="8743950"/>
            <a:ext cx="581501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TARGET USERS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1400175" y="9048750"/>
            <a:ext cx="58150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Drivers, traffic police, city planners</a:t>
            </a:r>
            <a:endParaRPr lang="en-US" sz="2025" dirty="0"/>
          </a:p>
        </p:txBody>
      </p:sp>
      <p:sp>
        <p:nvSpPr>
          <p:cNvPr id="22" name="Shape 19"/>
          <p:cNvSpPr/>
          <p:nvPr/>
        </p:nvSpPr>
        <p:spPr>
          <a:xfrm>
            <a:off x="7210425" y="8543925"/>
            <a:ext cx="4833938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7467600" y="8743950"/>
            <a:ext cx="475154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INPUT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7467600" y="9048750"/>
            <a:ext cx="475154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accident data + live GPS/weather feed</a:t>
            </a:r>
            <a:endParaRPr lang="en-US" sz="2025" dirty="0"/>
          </a:p>
        </p:txBody>
      </p:sp>
      <p:sp>
        <p:nvSpPr>
          <p:cNvPr id="25" name="Shape 22"/>
          <p:cNvSpPr/>
          <p:nvPr/>
        </p:nvSpPr>
        <p:spPr>
          <a:xfrm>
            <a:off x="12311063" y="8543925"/>
            <a:ext cx="4833938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2568238" y="8743950"/>
            <a:ext cx="475154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OUTPUT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12568238" y="9048750"/>
            <a:ext cx="475154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map + real-time alert</a:t>
            </a:r>
            <a:endParaRPr lang="en-US" sz="2025" dirty="0"/>
          </a:p>
        </p:txBody>
      </p:sp>
      <p:sp>
        <p:nvSpPr>
          <p:cNvPr id="28" name="Text 2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515225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7992428" y="1333500"/>
            <a:ext cx="291274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RELATED WORK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6213083" y="1752600"/>
            <a:ext cx="586183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Literature Survey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33700"/>
            <a:ext cx="16002000" cy="4610100"/>
          </a:xfrm>
          <a:prstGeom prst="roundRect">
            <a:avLst>
              <a:gd name="adj" fmla="val 2893"/>
            </a:avLst>
          </a:prstGeom>
          <a:ln/>
          <a:effectLst>
            <a:outerShdw blurRad="247650" dist="95250" dir="5400000" algn="bl" rotWithShape="0">
              <a:srgbClr val="141E3C">
                <a:alpha val="1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143000" y="2933700"/>
            <a:ext cx="16002000" cy="666750"/>
          </a:xfrm>
          <a:prstGeom prst="rect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352550" y="3124200"/>
            <a:ext cx="35364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Paper / Author (Year)</a:t>
            </a:r>
            <a:endParaRPr lang="en-US" sz="1875" dirty="0"/>
          </a:p>
        </p:txBody>
      </p:sp>
      <p:sp>
        <p:nvSpPr>
          <p:cNvPr id="9" name="Text 6"/>
          <p:cNvSpPr/>
          <p:nvPr/>
        </p:nvSpPr>
        <p:spPr>
          <a:xfrm>
            <a:off x="5192911" y="3124200"/>
            <a:ext cx="386620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Methodology Used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9353401" y="3124200"/>
            <a:ext cx="35364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Limitation</a:t>
            </a:r>
            <a:endParaRPr lang="en-US" sz="1875" dirty="0"/>
          </a:p>
        </p:txBody>
      </p:sp>
      <p:sp>
        <p:nvSpPr>
          <p:cNvPr id="11" name="Shape 8"/>
          <p:cNvSpPr/>
          <p:nvPr/>
        </p:nvSpPr>
        <p:spPr>
          <a:xfrm>
            <a:off x="12984212" y="2933700"/>
            <a:ext cx="4160788" cy="666750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13193762" y="3124200"/>
            <a:ext cx="38665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Improvement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1143000" y="3600450"/>
            <a:ext cx="16002000" cy="12001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1352550" y="3771900"/>
            <a:ext cx="353647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Yassin &amp; Pooja, SN Applied Sciences (2020)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5192911" y="3771900"/>
            <a:ext cx="386620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Hybrid k-means clustering + random forest for accident severity, 99.86% accuracy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9353401" y="3771900"/>
            <a:ext cx="353647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Small, localized dataset; no real-time alert integration</a:t>
            </a:r>
            <a:endParaRPr lang="en-US" sz="1875" dirty="0"/>
          </a:p>
        </p:txBody>
      </p:sp>
      <p:sp>
        <p:nvSpPr>
          <p:cNvPr id="17" name="Shape 14"/>
          <p:cNvSpPr/>
          <p:nvPr/>
        </p:nvSpPr>
        <p:spPr>
          <a:xfrm>
            <a:off x="12984212" y="3600450"/>
            <a:ext cx="4160788" cy="1200150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13193762" y="3771900"/>
            <a:ext cx="386651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Multi-region data + live alert layer</a:t>
            </a:r>
            <a:endParaRPr lang="en-US" sz="1875" dirty="0"/>
          </a:p>
        </p:txBody>
      </p:sp>
      <p:sp>
        <p:nvSpPr>
          <p:cNvPr id="19" name="Shape 16"/>
          <p:cNvSpPr/>
          <p:nvPr/>
        </p:nvSpPr>
        <p:spPr>
          <a:xfrm>
            <a:off x="1143000" y="4800600"/>
            <a:ext cx="16002000" cy="91440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352550" y="49720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Hébert, Concordia University Thesis (2020)</a:t>
            </a:r>
            <a:endParaRPr lang="en-US" sz="1875" dirty="0"/>
          </a:p>
        </p:txBody>
      </p:sp>
      <p:sp>
        <p:nvSpPr>
          <p:cNvPr id="21" name="Text 18"/>
          <p:cNvSpPr/>
          <p:nvPr/>
        </p:nvSpPr>
        <p:spPr>
          <a:xfrm>
            <a:off x="5192911" y="4972050"/>
            <a:ext cx="38662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Balanced random forest fusing accident, weather &amp; road-network data</a:t>
            </a:r>
            <a:endParaRPr lang="en-US" sz="1875" dirty="0"/>
          </a:p>
        </p:txBody>
      </p:sp>
      <p:sp>
        <p:nvSpPr>
          <p:cNvPr id="22" name="Text 19"/>
          <p:cNvSpPr/>
          <p:nvPr/>
        </p:nvSpPr>
        <p:spPr>
          <a:xfrm>
            <a:off x="9353401" y="49720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Offline batch prediction only; no live driver alerts</a:t>
            </a:r>
            <a:endParaRPr lang="en-US" sz="1875" dirty="0"/>
          </a:p>
        </p:txBody>
      </p:sp>
      <p:sp>
        <p:nvSpPr>
          <p:cNvPr id="23" name="Shape 20"/>
          <p:cNvSpPr/>
          <p:nvPr/>
        </p:nvSpPr>
        <p:spPr>
          <a:xfrm>
            <a:off x="12984212" y="4800600"/>
            <a:ext cx="4160788" cy="914400"/>
          </a:xfrm>
          <a:prstGeom prst="rect">
            <a:avLst/>
          </a:prstGeom>
          <a:solidFill>
            <a:srgbClr val="E4E9F4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13193762" y="4972050"/>
            <a:ext cx="386651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Real-time alert pipeline built on top of the risk model</a:t>
            </a:r>
            <a:endParaRPr lang="en-US" sz="1875" dirty="0"/>
          </a:p>
        </p:txBody>
      </p:sp>
      <p:sp>
        <p:nvSpPr>
          <p:cNvPr id="25" name="Shape 22"/>
          <p:cNvSpPr/>
          <p:nvPr/>
        </p:nvSpPr>
        <p:spPr>
          <a:xfrm>
            <a:off x="1143000" y="5715000"/>
            <a:ext cx="16002000" cy="914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352550" y="58864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r>
              <a:rPr lang="en-US" dirty="0"/>
              <a:t> </a:t>
            </a: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ML for Classifying Accident Hotspots, ISPRS Int. J. Geo-Inf. (2023)</a:t>
            </a:r>
          </a:p>
        </p:txBody>
      </p:sp>
      <p:sp>
        <p:nvSpPr>
          <p:cNvPr id="27" name="Text 24"/>
          <p:cNvSpPr/>
          <p:nvPr/>
        </p:nvSpPr>
        <p:spPr>
          <a:xfrm>
            <a:off x="5192911" y="5886450"/>
            <a:ext cx="38662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SVM, random forest &amp; MLP for federal-highway hotspot classification</a:t>
            </a:r>
            <a:endParaRPr lang="en-US" sz="1875" dirty="0"/>
          </a:p>
        </p:txBody>
      </p:sp>
      <p:sp>
        <p:nvSpPr>
          <p:cNvPr id="28" name="Text 25"/>
          <p:cNvSpPr/>
          <p:nvPr/>
        </p:nvSpPr>
        <p:spPr>
          <a:xfrm>
            <a:off x="9353401" y="58864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hotspot classes; alerting remains a stated future goal</a:t>
            </a:r>
            <a:endParaRPr lang="en-US" sz="1875" dirty="0"/>
          </a:p>
        </p:txBody>
      </p:sp>
      <p:sp>
        <p:nvSpPr>
          <p:cNvPr id="29" name="Shape 26"/>
          <p:cNvSpPr/>
          <p:nvPr/>
        </p:nvSpPr>
        <p:spPr>
          <a:xfrm>
            <a:off x="12984212" y="5715000"/>
            <a:ext cx="4160788" cy="914400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13193762" y="5886450"/>
            <a:ext cx="386651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Working real-time, location-triggered alert mechanism</a:t>
            </a:r>
            <a:endParaRPr lang="en-US" sz="1875" dirty="0"/>
          </a:p>
        </p:txBody>
      </p:sp>
      <p:sp>
        <p:nvSpPr>
          <p:cNvPr id="31" name="Shape 28"/>
          <p:cNvSpPr/>
          <p:nvPr/>
        </p:nvSpPr>
        <p:spPr>
          <a:xfrm>
            <a:off x="1143000" y="6629400"/>
            <a:ext cx="16002000" cy="91440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1352550" y="68008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1875" b="1" dirty="0" err="1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Telematics interpretable ML</a:t>
            </a: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</a:t>
            </a:r>
            <a:r>
              <a:rPr lang="en-US" sz="1875" b="1" dirty="0" err="1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PLOS ONE</a:t>
            </a:r>
            <a:r>
              <a:rPr lang="en-US" sz="18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(2025)</a:t>
            </a:r>
            <a:endParaRPr lang="en-US" sz="1875" dirty="0"/>
          </a:p>
        </p:txBody>
      </p:sp>
      <p:sp>
        <p:nvSpPr>
          <p:cNvPr id="33" name="Text 30"/>
          <p:cNvSpPr/>
          <p:nvPr/>
        </p:nvSpPr>
        <p:spPr>
          <a:xfrm>
            <a:off x="5192911" y="6800850"/>
            <a:ext cx="38662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Interpretable ML on fleet telematics to flag driver-error hotspots</a:t>
            </a:r>
            <a:endParaRPr lang="en-US" sz="1875" dirty="0"/>
          </a:p>
        </p:txBody>
      </p:sp>
      <p:sp>
        <p:nvSpPr>
          <p:cNvPr id="34" name="Text 31"/>
          <p:cNvSpPr/>
          <p:nvPr/>
        </p:nvSpPr>
        <p:spPr>
          <a:xfrm>
            <a:off x="9353401" y="6800850"/>
            <a:ext cx="353647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Needs costly in-vehicle telematics hardware fleet-wide</a:t>
            </a:r>
            <a:endParaRPr lang="en-US" sz="1875" dirty="0"/>
          </a:p>
        </p:txBody>
      </p:sp>
      <p:sp>
        <p:nvSpPr>
          <p:cNvPr id="35" name="Shape 32"/>
          <p:cNvSpPr/>
          <p:nvPr/>
        </p:nvSpPr>
        <p:spPr>
          <a:xfrm>
            <a:off x="12984212" y="6629400"/>
            <a:ext cx="4160788" cy="914400"/>
          </a:xfrm>
          <a:prstGeom prst="rect">
            <a:avLst/>
          </a:prstGeom>
          <a:solidFill>
            <a:srgbClr val="E4E9F4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13193762" y="6800850"/>
            <a:ext cx="386651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Hardware-free, GPS-only alerting usable on any smartphone</a:t>
            </a:r>
            <a:endParaRPr lang="en-US" sz="1875" dirty="0"/>
          </a:p>
        </p:txBody>
      </p:sp>
      <p:sp>
        <p:nvSpPr>
          <p:cNvPr id="37" name="Shape 34"/>
          <p:cNvSpPr/>
          <p:nvPr/>
        </p:nvSpPr>
        <p:spPr>
          <a:xfrm>
            <a:off x="1143000" y="7791450"/>
            <a:ext cx="16002000" cy="1165622"/>
          </a:xfrm>
          <a:prstGeom prst="roundRect">
            <a:avLst>
              <a:gd name="adj" fmla="val 9806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8" name="Shape 35"/>
          <p:cNvSpPr/>
          <p:nvPr/>
        </p:nvSpPr>
        <p:spPr>
          <a:xfrm>
            <a:off x="1143000" y="7791450"/>
            <a:ext cx="76200" cy="1165622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9" name="Text 36"/>
          <p:cNvSpPr/>
          <p:nvPr/>
        </p:nvSpPr>
        <p:spPr>
          <a:xfrm>
            <a:off x="1504950" y="8001000"/>
            <a:ext cx="1581492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Key takeaway: </a:t>
            </a:r>
            <a:r>
              <a:rPr lang="en-US" sz="21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Existing work offers static hotspot maps, offline severity classifiers, or hardware-heavy telematics — our project targets a </a:t>
            </a:r>
            <a:r>
              <a:rPr lang="en-US" sz="21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lightweight, real-time, alert-integrated </a:t>
            </a:r>
            <a:r>
              <a:rPr lang="en-US" sz="21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solution.</a:t>
            </a:r>
            <a:endParaRPr lang="en-US" sz="2100" dirty="0"/>
          </a:p>
        </p:txBody>
      </p:sp>
      <p:sp>
        <p:nvSpPr>
          <p:cNvPr id="40" name="Text 37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50919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7811691" y="1333500"/>
            <a:ext cx="327421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IS MISSING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6702914" y="1752600"/>
            <a:ext cx="488202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Research Gaps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438275" y="32289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400175" y="32289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G1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2257425" y="32289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Static Hotspot Maps</a:t>
            </a:r>
            <a:endParaRPr lang="en-US" sz="2175" dirty="0"/>
          </a:p>
        </p:txBody>
      </p:sp>
      <p:sp>
        <p:nvSpPr>
          <p:cNvPr id="10" name="Text 7"/>
          <p:cNvSpPr/>
          <p:nvPr/>
        </p:nvSpPr>
        <p:spPr>
          <a:xfrm>
            <a:off x="2257425" y="3609975"/>
            <a:ext cx="6641878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Most hotspot studies produce fixed maps from historical data alone, never updated with live conditions.</a:t>
            </a:r>
            <a:endParaRPr lang="en-US" sz="2625" dirty="0"/>
          </a:p>
        </p:txBody>
      </p:sp>
      <p:sp>
        <p:nvSpPr>
          <p:cNvPr id="11" name="Shape 8"/>
          <p:cNvSpPr/>
          <p:nvPr/>
        </p:nvSpPr>
        <p:spPr>
          <a:xfrm>
            <a:off x="9286875" y="29718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9582150" y="32289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9544050" y="32289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G2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0401300" y="32289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Real-Time Alert Layer</a:t>
            </a:r>
            <a:endParaRPr lang="en-US" sz="2175" dirty="0"/>
          </a:p>
        </p:txBody>
      </p:sp>
      <p:sp>
        <p:nvSpPr>
          <p:cNvPr id="15" name="Text 12"/>
          <p:cNvSpPr/>
          <p:nvPr/>
        </p:nvSpPr>
        <p:spPr>
          <a:xfrm>
            <a:off x="10401300" y="3609975"/>
            <a:ext cx="6641878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Prediction models rarely connect to an actual driver-facing alert mechanism.</a:t>
            </a:r>
            <a:endParaRPr lang="en-US" sz="2625" dirty="0"/>
          </a:p>
        </p:txBody>
      </p:sp>
      <p:sp>
        <p:nvSpPr>
          <p:cNvPr id="16" name="Shape 13"/>
          <p:cNvSpPr/>
          <p:nvPr/>
        </p:nvSpPr>
        <p:spPr>
          <a:xfrm>
            <a:off x="1143000" y="54483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1438275" y="57054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1400175" y="57054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G3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2257425" y="57054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Hardware-Dependent Systems</a:t>
            </a:r>
            <a:endParaRPr lang="en-US" sz="2175" dirty="0"/>
          </a:p>
        </p:txBody>
      </p:sp>
      <p:sp>
        <p:nvSpPr>
          <p:cNvPr id="20" name="Text 17"/>
          <p:cNvSpPr/>
          <p:nvPr/>
        </p:nvSpPr>
        <p:spPr>
          <a:xfrm>
            <a:off x="2257425" y="6086475"/>
            <a:ext cx="6641878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Telematics-based systems need costly in-vehicle hardware, out of reach for most vehicles and two-wheelers.</a:t>
            </a:r>
            <a:endParaRPr lang="en-US" sz="2625" dirty="0"/>
          </a:p>
        </p:txBody>
      </p:sp>
      <p:sp>
        <p:nvSpPr>
          <p:cNvPr id="21" name="Shape 18"/>
          <p:cNvSpPr/>
          <p:nvPr/>
        </p:nvSpPr>
        <p:spPr>
          <a:xfrm>
            <a:off x="9286875" y="5448300"/>
            <a:ext cx="7858125" cy="22479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9582150" y="5705475"/>
            <a:ext cx="609600" cy="609600"/>
          </a:xfrm>
          <a:prstGeom prst="roundRect">
            <a:avLst>
              <a:gd name="adj" fmla="val 18750"/>
            </a:avLst>
          </a:prstGeom>
          <a:solidFill>
            <a:srgbClr val="FBE7E9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9544050" y="57054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G4</a:t>
            </a:r>
            <a:endParaRPr lang="en-US" sz="2250" dirty="0"/>
          </a:p>
        </p:txBody>
      </p:sp>
      <p:sp>
        <p:nvSpPr>
          <p:cNvPr id="24" name="Text 21"/>
          <p:cNvSpPr/>
          <p:nvPr/>
        </p:nvSpPr>
        <p:spPr>
          <a:xfrm>
            <a:off x="10401300" y="5705475"/>
            <a:ext cx="709326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Disconnected Data Sources</a:t>
            </a:r>
            <a:endParaRPr lang="en-US" sz="2175" dirty="0"/>
          </a:p>
        </p:txBody>
      </p:sp>
      <p:sp>
        <p:nvSpPr>
          <p:cNvPr id="25" name="Text 22"/>
          <p:cNvSpPr/>
          <p:nvPr/>
        </p:nvSpPr>
        <p:spPr>
          <a:xfrm>
            <a:off x="10401300" y="6086475"/>
            <a:ext cx="6641878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Accident, weather, and traffic-density data are rarely fused into a single spatio-temporal risk model.</a:t>
            </a:r>
            <a:endParaRPr lang="en-US" sz="2625" dirty="0"/>
          </a:p>
        </p:txBody>
      </p:sp>
      <p:sp>
        <p:nvSpPr>
          <p:cNvPr id="26" name="Shape 23"/>
          <p:cNvSpPr/>
          <p:nvPr/>
        </p:nvSpPr>
        <p:spPr>
          <a:xfrm>
            <a:off x="1143000" y="7925991"/>
            <a:ext cx="16002000" cy="1656159"/>
          </a:xfrm>
          <a:prstGeom prst="roundRect">
            <a:avLst>
              <a:gd name="adj" fmla="val 9202"/>
            </a:avLst>
          </a:prstGeom>
          <a:solidFill>
            <a:srgbClr val="1E2A55"/>
          </a:solidFill>
          <a:ln/>
          <a:effectLst>
            <a:outerShdw blurRad="247650" dist="11430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1485900" y="8615958"/>
            <a:ext cx="336376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WE SOLVE THEM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4791521" y="8496895"/>
            <a:ext cx="19050" cy="5143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5058221" y="8192691"/>
            <a:ext cx="12096195" cy="11608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</a:t>
            </a: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geospatial ML pipeline </a:t>
            </a: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(Uber H3 Spatial Grids clustering + HistGradientBoosting risk scoring) fused with </a:t>
            </a: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location and weather data, </a:t>
            </a: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delivering lightweight </a:t>
            </a: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real-time alerts </a:t>
            </a: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via a web/mobile interface — no special hardware needed.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84244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7738348" y="1333500"/>
            <a:ext cx="34209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WE WILL DO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409654" y="1752600"/>
            <a:ext cx="346854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Objectives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438275" y="3830836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400175" y="3830836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2257425" y="3209925"/>
            <a:ext cx="6612446" cy="1870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collect and preprocess historical road-accident datasets (France Accidents 2005-2016 Kaggle Dataset) — including geocoding and cleaning.</a:t>
            </a:r>
            <a:endParaRPr lang="en-US" sz="2775" dirty="0"/>
          </a:p>
        </p:txBody>
      </p:sp>
      <p:sp>
        <p:nvSpPr>
          <p:cNvPr id="10" name="Shape 7"/>
          <p:cNvSpPr/>
          <p:nvPr/>
        </p:nvSpPr>
        <p:spPr>
          <a:xfrm>
            <a:off x="9315450" y="2971800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9610725" y="3830836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9572625" y="3830836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0429875" y="3438971"/>
            <a:ext cx="6612446" cy="1412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fuse accident data with contextual features — time of day, weather, traffic density, and road type.</a:t>
            </a:r>
            <a:endParaRPr lang="en-US" sz="2775" dirty="0"/>
          </a:p>
        </p:txBody>
      </p:sp>
      <p:sp>
        <p:nvSpPr>
          <p:cNvPr id="14" name="Shape 11"/>
          <p:cNvSpPr/>
          <p:nvPr/>
        </p:nvSpPr>
        <p:spPr>
          <a:xfrm>
            <a:off x="1143000" y="5509022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1341290" y="6368058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272015" y="6354203"/>
            <a:ext cx="72563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2049600" y="5747147"/>
            <a:ext cx="6955346" cy="1870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apply spatial clustering (Uber H3 Spatial Grids/K-Means) for risk-zone identification and a classifier (Random Forest/HistGradientBoosting) for risk scoring.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9315450" y="5509022"/>
            <a:ext cx="7829550" cy="2308622"/>
          </a:xfrm>
          <a:prstGeom prst="roundRect">
            <a:avLst>
              <a:gd name="adj" fmla="val 6601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9610725" y="6368058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9572625" y="6368058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0429875" y="5976193"/>
            <a:ext cx="6612446" cy="1412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develop a real-time alert interface (React, Tailwind &amp; FastAPI) that warns users on approaching a high-risk zone.</a:t>
            </a:r>
            <a:endParaRPr lang="en-US" sz="2775" dirty="0"/>
          </a:p>
        </p:txBody>
      </p:sp>
      <p:sp>
        <p:nvSpPr>
          <p:cNvPr id="22" name="Shape 19"/>
          <p:cNvSpPr/>
          <p:nvPr/>
        </p:nvSpPr>
        <p:spPr>
          <a:xfrm>
            <a:off x="1143000" y="8046244"/>
            <a:ext cx="7829550" cy="1850529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1438275" y="8676233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1400175" y="8676233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250" dirty="0"/>
          </a:p>
        </p:txBody>
      </p:sp>
      <p:sp>
        <p:nvSpPr>
          <p:cNvPr id="25" name="Text 22"/>
          <p:cNvSpPr/>
          <p:nvPr/>
        </p:nvSpPr>
        <p:spPr>
          <a:xfrm>
            <a:off x="2257425" y="8284369"/>
            <a:ext cx="6612446" cy="1412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evaluate using Silhouette score (clustering) and F1/precision-recall (risk classification), plus alert-latency testing.</a:t>
            </a:r>
            <a:endParaRPr lang="en-US" sz="2775" dirty="0"/>
          </a:p>
        </p:txBody>
      </p:sp>
      <p:sp>
        <p:nvSpPr>
          <p:cNvPr id="26" name="Shape 23"/>
          <p:cNvSpPr/>
          <p:nvPr/>
        </p:nvSpPr>
        <p:spPr>
          <a:xfrm>
            <a:off x="9315450" y="8046244"/>
            <a:ext cx="7829550" cy="1850529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9555305" y="8676233"/>
            <a:ext cx="590550" cy="5905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9517205" y="8676233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2250" dirty="0"/>
          </a:p>
        </p:txBody>
      </p:sp>
      <p:sp>
        <p:nvSpPr>
          <p:cNvPr id="29" name="Text 26"/>
          <p:cNvSpPr/>
          <p:nvPr/>
        </p:nvSpPr>
        <p:spPr>
          <a:xfrm>
            <a:off x="10277469" y="8139340"/>
            <a:ext cx="7210431" cy="1013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3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 compare clustering approaches (K-Means vs Uber H3 Spatial Grids vs heuristic black-spot method) and run a feature-ablation study.</a:t>
            </a:r>
            <a:endParaRPr lang="en-US" sz="2300" dirty="0"/>
          </a:p>
        </p:txBody>
      </p:sp>
      <p:sp>
        <p:nvSpPr>
          <p:cNvPr id="30" name="Text 27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60382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592108" y="1333500"/>
            <a:ext cx="171323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PIPELINE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369808" y="1752600"/>
            <a:ext cx="754838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Methodology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857500"/>
            <a:ext cx="2731889" cy="9334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153091" y="3067050"/>
            <a:ext cx="271170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 + Live Data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153091" y="3352800"/>
            <a:ext cx="27117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Input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951089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408289" y="2857500"/>
            <a:ext cx="2855268" cy="9334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412211" y="3067050"/>
            <a:ext cx="28474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Geocode + Preprocess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4412211" y="3352800"/>
            <a:ext cx="28474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Clean · geocode · merge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339757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7796957" y="2857500"/>
            <a:ext cx="2855268" cy="933450"/>
          </a:xfrm>
          <a:prstGeom prst="roundRect">
            <a:avLst>
              <a:gd name="adj" fmla="val 14286"/>
            </a:avLst>
          </a:prstGeom>
          <a:solidFill>
            <a:srgbClr val="EEF1F8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7800878" y="3067050"/>
            <a:ext cx="28474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5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Grids + HistGradientBoosting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7800878" y="3352800"/>
            <a:ext cx="28474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 + risk score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728424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11185624" y="2876550"/>
            <a:ext cx="2693938" cy="895350"/>
          </a:xfrm>
          <a:prstGeom prst="roundRect">
            <a:avLst>
              <a:gd name="adj" fmla="val 14894"/>
            </a:avLst>
          </a:prstGeom>
          <a:solidFill>
            <a:srgbClr val="1E2A55"/>
          </a:solidFill>
          <a:ln/>
          <a:effectLst>
            <a:outerShdw blurRad="171450" dist="7620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1176657" y="3067050"/>
            <a:ext cx="27118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Zone Map</a:t>
            </a:r>
            <a:endParaRPr lang="en-US" sz="1875" dirty="0"/>
          </a:p>
        </p:txBody>
      </p:sp>
      <p:sp>
        <p:nvSpPr>
          <p:cNvPr id="20" name="Text 17"/>
          <p:cNvSpPr/>
          <p:nvPr/>
        </p:nvSpPr>
        <p:spPr>
          <a:xfrm>
            <a:off x="11176657" y="3352800"/>
            <a:ext cx="271187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Zone + severity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3955762" y="3100388"/>
            <a:ext cx="457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→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14412962" y="2857500"/>
            <a:ext cx="2732038" cy="9334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5"/>
            </a:solidFill>
            <a:prstDash val="solid"/>
          </a:ln>
          <a:effectLst>
            <a:outerShdw blurRad="152400" dist="57150" dir="5400000" algn="bl" rotWithShape="0">
              <a:srgbClr val="141E3C">
                <a:alpha val="8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4423045" y="3067050"/>
            <a:ext cx="27118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 Dashboard</a:t>
            </a:r>
            <a:endParaRPr lang="en-US" sz="1875" dirty="0"/>
          </a:p>
        </p:txBody>
      </p:sp>
      <p:sp>
        <p:nvSpPr>
          <p:cNvPr id="24" name="Text 21"/>
          <p:cNvSpPr/>
          <p:nvPr/>
        </p:nvSpPr>
        <p:spPr>
          <a:xfrm>
            <a:off x="14423045" y="3352800"/>
            <a:ext cx="271187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React &amp; FastAPI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143000" y="4305300"/>
            <a:ext cx="8678317" cy="523875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9050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476375" y="4581525"/>
            <a:ext cx="881272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25" b="1" kern="0" spc="1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PROCESS STEPS</a:t>
            </a:r>
            <a:endParaRPr lang="en-US" sz="1725" dirty="0"/>
          </a:p>
        </p:txBody>
      </p:sp>
      <p:sp>
        <p:nvSpPr>
          <p:cNvPr id="27" name="Text 24"/>
          <p:cNvSpPr/>
          <p:nvPr/>
        </p:nvSpPr>
        <p:spPr>
          <a:xfrm>
            <a:off x="1476375" y="5038725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1.</a:t>
            </a:r>
            <a:endParaRPr lang="en-US" sz="2100" dirty="0"/>
          </a:p>
        </p:txBody>
      </p:sp>
      <p:sp>
        <p:nvSpPr>
          <p:cNvPr id="28" name="Text 25"/>
          <p:cNvSpPr/>
          <p:nvPr/>
        </p:nvSpPr>
        <p:spPr>
          <a:xfrm>
            <a:off x="1952625" y="5010150"/>
            <a:ext cx="5844332" cy="400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Collect &amp; geocode historical accident data.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1476375" y="5571260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2.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1952625" y="5514975"/>
            <a:ext cx="821583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 </a:t>
            </a: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accident</a:t>
            </a: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points into risk zones (Uber H3 Spatial Grids).</a:t>
            </a:r>
            <a:endParaRPr lang="en-US" sz="2250" dirty="0"/>
          </a:p>
        </p:txBody>
      </p:sp>
      <p:sp>
        <p:nvSpPr>
          <p:cNvPr id="31" name="Text 28"/>
          <p:cNvSpPr/>
          <p:nvPr/>
        </p:nvSpPr>
        <p:spPr>
          <a:xfrm>
            <a:off x="1476375" y="6089940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3.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1952625" y="5992090"/>
            <a:ext cx="74999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Train classifier to score zone risk using contextual features.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1476375" y="6608620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4.</a:t>
            </a:r>
            <a:endParaRPr lang="en-US" sz="2100" dirty="0"/>
          </a:p>
        </p:txBody>
      </p:sp>
      <p:sp>
        <p:nvSpPr>
          <p:cNvPr id="34" name="Text 31"/>
          <p:cNvSpPr/>
          <p:nvPr/>
        </p:nvSpPr>
        <p:spPr>
          <a:xfrm>
            <a:off x="1952625" y="6524626"/>
            <a:ext cx="776137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Fuse with live GPS + weather feed.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1462520" y="7152405"/>
            <a:ext cx="4000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5.</a:t>
            </a:r>
            <a:endParaRPr lang="en-US" sz="2100" dirty="0"/>
          </a:p>
        </p:txBody>
      </p:sp>
      <p:sp>
        <p:nvSpPr>
          <p:cNvPr id="36" name="Text 33"/>
          <p:cNvSpPr/>
          <p:nvPr/>
        </p:nvSpPr>
        <p:spPr>
          <a:xfrm>
            <a:off x="1952625" y="7068409"/>
            <a:ext cx="73298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Trigger alert </a:t>
            </a:r>
            <a:r>
              <a:rPr lang="en-US" sz="20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when</a:t>
            </a:r>
            <a:r>
              <a:rPr lang="en-US" sz="19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the user approaches a high-risk zone; show on map dashboard.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10202317" y="4305300"/>
            <a:ext cx="6942683" cy="5238750"/>
          </a:xfrm>
          <a:prstGeom prst="roundRect">
            <a:avLst>
              <a:gd name="adj" fmla="val 3273"/>
            </a:avLst>
          </a:prstGeom>
          <a:solidFill>
            <a:srgbClr val="1E2A55"/>
          </a:solidFill>
          <a:ln/>
          <a:effectLst>
            <a:outerShdw blurRad="228600" dist="95250" dir="5400000" algn="bl" rotWithShape="0">
              <a:srgbClr val="141E3C">
                <a:alpha val="2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8" name="Text 35"/>
          <p:cNvSpPr/>
          <p:nvPr/>
        </p:nvSpPr>
        <p:spPr>
          <a:xfrm>
            <a:off x="10507117" y="4552950"/>
            <a:ext cx="69663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25" b="1" kern="0" spc="150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DATASETS &amp; TOOLS</a:t>
            </a:r>
            <a:endParaRPr lang="en-US" sz="1725" dirty="0"/>
          </a:p>
        </p:txBody>
      </p:sp>
      <p:sp>
        <p:nvSpPr>
          <p:cNvPr id="39" name="Shape 36"/>
          <p:cNvSpPr/>
          <p:nvPr/>
        </p:nvSpPr>
        <p:spPr>
          <a:xfrm>
            <a:off x="10507117" y="5343525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10507117" y="4962526"/>
            <a:ext cx="2663532" cy="330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D1 · Road Accident Records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13475449" y="4962525"/>
            <a:ext cx="336475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France Accidents 2005-2016 (Kaggle)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10507117" y="5848350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3" name="Text 40"/>
          <p:cNvSpPr/>
          <p:nvPr/>
        </p:nvSpPr>
        <p:spPr>
          <a:xfrm>
            <a:off x="10465552" y="5411931"/>
            <a:ext cx="2968332" cy="386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D2 Live Traffic &amp; Weather</a:t>
            </a:r>
            <a:endParaRPr lang="en-US" dirty="0"/>
          </a:p>
        </p:txBody>
      </p:sp>
      <p:sp>
        <p:nvSpPr>
          <p:cNvPr id="44" name="Text 41"/>
          <p:cNvSpPr/>
          <p:nvPr/>
        </p:nvSpPr>
        <p:spPr>
          <a:xfrm>
            <a:off x="13656513" y="5467350"/>
            <a:ext cx="3183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OpenWeather + traffic APIs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507117" y="6353175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6" name="Text 43"/>
          <p:cNvSpPr/>
          <p:nvPr/>
        </p:nvSpPr>
        <p:spPr>
          <a:xfrm>
            <a:off x="10507117" y="5972175"/>
            <a:ext cx="74369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Model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13576295" y="5972175"/>
            <a:ext cx="32639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Grids + HistGradientBoosting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10507117" y="6858000"/>
            <a:ext cx="633308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9" name="Text 46"/>
          <p:cNvSpPr/>
          <p:nvPr/>
        </p:nvSpPr>
        <p:spPr>
          <a:xfrm>
            <a:off x="10507117" y="6477000"/>
            <a:ext cx="13881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Framework</a:t>
            </a:r>
            <a:endParaRPr lang="en-US" sz="1800" dirty="0"/>
          </a:p>
        </p:txBody>
      </p:sp>
      <p:sp>
        <p:nvSpPr>
          <p:cNvPr id="50" name="Text 47"/>
          <p:cNvSpPr/>
          <p:nvPr/>
        </p:nvSpPr>
        <p:spPr>
          <a:xfrm>
            <a:off x="12660823" y="6477000"/>
            <a:ext cx="417937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Python · Scikit-learn · Leaflet · React &amp; FastAPI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10507117" y="6981825"/>
            <a:ext cx="102259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9D2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Platform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13762598" y="6981825"/>
            <a:ext cx="30776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Google Colab / local machine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74670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607824" y="1333500"/>
            <a:ext cx="168180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NOVELTY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6275621" y="1752600"/>
            <a:ext cx="573675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Contribution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5130701" cy="3939183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457325" y="3305175"/>
            <a:ext cx="495225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Proactive Alerts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57325" y="3829050"/>
            <a:ext cx="4637112" cy="2786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Unlike static hotspot maps, alerts are pushed live as a vehicle approaches a risk zone, using current time and weather context.</a:t>
            </a:r>
            <a:endParaRPr lang="en-US" sz="2775" dirty="0"/>
          </a:p>
        </p:txBody>
      </p:sp>
      <p:sp>
        <p:nvSpPr>
          <p:cNvPr id="9" name="Shape 6"/>
          <p:cNvSpPr/>
          <p:nvPr/>
        </p:nvSpPr>
        <p:spPr>
          <a:xfrm>
            <a:off x="6578501" y="2971800"/>
            <a:ext cx="5130850" cy="3939183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892826" y="3305175"/>
            <a:ext cx="495242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Fused Risk Scoring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892826" y="3829050"/>
            <a:ext cx="4637266" cy="2328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Combines spatial clustering with contextual classification instead of simple historical accident counting.</a:t>
            </a:r>
            <a:endParaRPr lang="en-US" sz="2775" dirty="0"/>
          </a:p>
        </p:txBody>
      </p:sp>
      <p:sp>
        <p:nvSpPr>
          <p:cNvPr id="12" name="Shape 9"/>
          <p:cNvSpPr/>
          <p:nvPr/>
        </p:nvSpPr>
        <p:spPr>
          <a:xfrm>
            <a:off x="12014150" y="2971800"/>
            <a:ext cx="5130850" cy="3939183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209550" dist="7620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2328475" y="3305175"/>
            <a:ext cx="495242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Lightweight &amp; Accessible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2328475" y="3829050"/>
            <a:ext cx="4637266" cy="23285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7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specialized telematics hardware — runs as a web/mobile dashboard usable by any GPS-enabled driver.</a:t>
            </a:r>
            <a:endParaRPr lang="en-US" sz="2775" dirty="0"/>
          </a:p>
        </p:txBody>
      </p:sp>
      <p:sp>
        <p:nvSpPr>
          <p:cNvPr id="15" name="Shape 12"/>
          <p:cNvSpPr/>
          <p:nvPr/>
        </p:nvSpPr>
        <p:spPr>
          <a:xfrm>
            <a:off x="1143000" y="7860209"/>
            <a:ext cx="16002000" cy="1721941"/>
          </a:xfrm>
          <a:prstGeom prst="roundRect">
            <a:avLst>
              <a:gd name="adj" fmla="val 9957"/>
            </a:avLst>
          </a:prstGeom>
          <a:solidFill>
            <a:srgbClr val="1E2A55"/>
          </a:solidFill>
          <a:ln/>
          <a:effectLst>
            <a:outerShdw blurRad="266700" dist="114300" dir="5400000" algn="bl" rotWithShape="0">
              <a:srgbClr val="141E3C">
                <a:alpha val="22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524000" y="8145959"/>
            <a:ext cx="167640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kern="0" spc="225" dirty="0">
                <a:solidFill>
                  <a:srgbClr val="FF8A9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NOVELTY STATEMENT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1524000" y="8469809"/>
            <a:ext cx="15697200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325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“Unlike static black-spot maps or hardware-heavy telematics systems, our lightweight AI pipeline fuses historical accident clustering with real-time contextual data to deliver proactive, location-aware safety alerts on any GPS-enabled device.”</a:t>
            </a:r>
            <a:endParaRPr lang="en-US" sz="2325" dirty="0"/>
          </a:p>
        </p:txBody>
      </p:sp>
      <p:sp>
        <p:nvSpPr>
          <p:cNvPr id="18" name="Text 1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9592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7091206" y="1333500"/>
            <a:ext cx="471503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METHODS AND DATASETS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709017" y="1752600"/>
            <a:ext cx="6869966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Planned Comparison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971800"/>
            <a:ext cx="606623" cy="361950"/>
          </a:xfrm>
          <a:prstGeom prst="roundRect">
            <a:avLst>
              <a:gd name="adj" fmla="val 21053"/>
            </a:avLst>
          </a:prstGeom>
          <a:solidFill>
            <a:srgbClr val="C8202E"/>
          </a:solidFill>
          <a:ln/>
        </p:spPr>
        <p:txBody>
          <a:bodyPr wrap="square">
            <a:normAutofit fontScale="92500" lnSpcReduction="20000"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95400" y="3028950"/>
            <a:ext cx="37802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D1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882973" y="3000375"/>
            <a:ext cx="406625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 Dataset · Accident Records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1143000" y="3467100"/>
            <a:ext cx="7781925" cy="2781300"/>
          </a:xfrm>
          <a:prstGeom prst="roundRect">
            <a:avLst>
              <a:gd name="adj" fmla="val 4110"/>
            </a:avLst>
          </a:prstGeom>
          <a:ln/>
          <a:effectLst>
            <a:outerShdw blurRad="209550" dist="76200" dir="5400000" algn="bl" rotWithShape="0">
              <a:srgbClr val="141E3C">
                <a:alpha val="1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1143000" y="3467100"/>
            <a:ext cx="7781925" cy="561975"/>
          </a:xfrm>
          <a:prstGeom prst="rect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314450" y="3609975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040064" y="3609975"/>
            <a:ext cx="112543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Silhouette ↑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17903" y="3609975"/>
            <a:ext cx="107706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F1 ↑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547372" y="3609975"/>
            <a:ext cx="130135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 Latency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143000" y="40290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314450" y="41719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Heuristic Black-Spot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935289" y="40386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No clusters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213128" y="40386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442597" y="40386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10ms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143000" y="4581525"/>
            <a:ext cx="7781925" cy="55245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1314450" y="472440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K-Means Clustering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935289" y="459105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0.48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213128" y="459105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0.68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442597" y="459105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45ms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51339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314450" y="52768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Spatial Grids Clustering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4935289" y="51435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6213128" y="51435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0.72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7442597" y="51435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5ms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1143000" y="5686425"/>
            <a:ext cx="7781925" cy="561975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1314450" y="5829300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Uber H3 Spatial Grids+HistGradientBoosting (Ours)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4935289" y="5695950"/>
            <a:ext cx="1334988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6213128" y="5695950"/>
            <a:ext cx="1286619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082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442597" y="5695950"/>
            <a:ext cx="1510903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12ms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363075" y="2971800"/>
            <a:ext cx="606623" cy="361950"/>
          </a:xfrm>
          <a:prstGeom prst="roundRect">
            <a:avLst>
              <a:gd name="adj" fmla="val 21053"/>
            </a:avLst>
          </a:prstGeom>
          <a:solidFill>
            <a:srgbClr val="C8202E"/>
          </a:solidFill>
          <a:ln/>
        </p:spPr>
        <p:txBody>
          <a:bodyPr wrap="square">
            <a:normAutofit fontScale="92500" lnSpcReduction="20000"/>
          </a:bodyPr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9515475" y="3028950"/>
            <a:ext cx="37802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D2</a:t>
            </a:r>
            <a:endParaRPr lang="en-US" sz="1650" dirty="0"/>
          </a:p>
        </p:txBody>
      </p:sp>
      <p:sp>
        <p:nvSpPr>
          <p:cNvPr id="37" name="Text 34"/>
          <p:cNvSpPr/>
          <p:nvPr/>
        </p:nvSpPr>
        <p:spPr>
          <a:xfrm>
            <a:off x="10103048" y="3000375"/>
            <a:ext cx="5180796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Live/Test Dataset · Cross-validation split</a:t>
            </a:r>
            <a:endParaRPr lang="en-US" sz="2100" dirty="0"/>
          </a:p>
        </p:txBody>
      </p:sp>
      <p:sp>
        <p:nvSpPr>
          <p:cNvPr id="38" name="Shape 35"/>
          <p:cNvSpPr/>
          <p:nvPr/>
        </p:nvSpPr>
        <p:spPr>
          <a:xfrm>
            <a:off x="9363075" y="3467100"/>
            <a:ext cx="7781925" cy="2781300"/>
          </a:xfrm>
          <a:prstGeom prst="roundRect">
            <a:avLst>
              <a:gd name="adj" fmla="val 4110"/>
            </a:avLst>
          </a:prstGeom>
          <a:ln/>
          <a:effectLst>
            <a:outerShdw blurRad="209550" dist="76200" dir="5400000" algn="bl" rotWithShape="0">
              <a:srgbClr val="141E3C">
                <a:alpha val="10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9363075" y="3467100"/>
            <a:ext cx="7781925" cy="561975"/>
          </a:xfrm>
          <a:prstGeom prst="rect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9534525" y="3609975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Method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260139" y="3609975"/>
            <a:ext cx="112543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Silhouette ↑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4537978" y="3609975"/>
            <a:ext cx="107706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 F1 ↑</a:t>
            </a:r>
            <a:endParaRPr lang="en-US" sz="1800" dirty="0"/>
          </a:p>
        </p:txBody>
      </p:sp>
      <p:sp>
        <p:nvSpPr>
          <p:cNvPr id="43" name="Text 40"/>
          <p:cNvSpPr/>
          <p:nvPr/>
        </p:nvSpPr>
        <p:spPr>
          <a:xfrm>
            <a:off x="15767447" y="3609975"/>
            <a:ext cx="130135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 Latency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9363075" y="40290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45" name="Text 42"/>
          <p:cNvSpPr/>
          <p:nvPr/>
        </p:nvSpPr>
        <p:spPr>
          <a:xfrm>
            <a:off x="9534525" y="41719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Heuristic Black-Spot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3155364" y="40386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No clusters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14433203" y="40386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0.58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15662672" y="40386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10ms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9363075" y="4581525"/>
            <a:ext cx="7781925" cy="552450"/>
          </a:xfrm>
          <a:prstGeom prst="rect">
            <a:avLst/>
          </a:prstGeom>
          <a:solidFill>
            <a:srgbClr val="F4F5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50" name="Text 47"/>
          <p:cNvSpPr/>
          <p:nvPr/>
        </p:nvSpPr>
        <p:spPr>
          <a:xfrm>
            <a:off x="9534525" y="472440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K-Means Clustering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13155364" y="459105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0.45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14433203" y="459105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0.64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15662672" y="459105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48ms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9363075" y="5133975"/>
            <a:ext cx="7781925" cy="552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55" name="Text 52"/>
          <p:cNvSpPr/>
          <p:nvPr/>
        </p:nvSpPr>
        <p:spPr>
          <a:xfrm>
            <a:off x="9534525" y="5276850"/>
            <a:ext cx="35925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Uber H3 Spatial Grids Clustering</a:t>
            </a:r>
            <a:endParaRPr lang="en-US" sz="1800" dirty="0"/>
          </a:p>
        </p:txBody>
      </p:sp>
      <p:sp>
        <p:nvSpPr>
          <p:cNvPr id="56" name="Text 53"/>
          <p:cNvSpPr/>
          <p:nvPr/>
        </p:nvSpPr>
        <p:spPr>
          <a:xfrm>
            <a:off x="13155364" y="5143500"/>
            <a:ext cx="1334988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57" name="Text 54"/>
          <p:cNvSpPr/>
          <p:nvPr/>
        </p:nvSpPr>
        <p:spPr>
          <a:xfrm>
            <a:off x="14433203" y="5143500"/>
            <a:ext cx="128661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9AA1B0"/>
                </a:solidFill>
                <a:latin typeface="Bookman Old Style" pitchFamily="34" charset="0"/>
              </a:rPr>
              <a:t>0.70</a:t>
            </a:r>
            <a:endParaRPr lang="en-US" sz="1800" dirty="0"/>
          </a:p>
        </p:txBody>
      </p:sp>
      <p:sp>
        <p:nvSpPr>
          <p:cNvPr id="58" name="Text 55"/>
          <p:cNvSpPr/>
          <p:nvPr/>
        </p:nvSpPr>
        <p:spPr>
          <a:xfrm>
            <a:off x="15662672" y="5143500"/>
            <a:ext cx="151090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Bookman Old Style" pitchFamily="34" charset="0"/>
              </a:rPr>
              <a:t>5ms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9363075" y="5686425"/>
            <a:ext cx="7781925" cy="561975"/>
          </a:xfrm>
          <a:prstGeom prst="rect">
            <a:avLst/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60" name="Text 57"/>
          <p:cNvSpPr/>
          <p:nvPr/>
        </p:nvSpPr>
        <p:spPr>
          <a:xfrm>
            <a:off x="9534525" y="5829300"/>
            <a:ext cx="359259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Proposed Uber H3 Spatial Grids+HistGradientBoosting (Ours)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13155364" y="5695950"/>
            <a:ext cx="1334988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0.65</a:t>
            </a:r>
            <a:endParaRPr lang="en-US" sz="1800" dirty="0"/>
          </a:p>
        </p:txBody>
      </p:sp>
      <p:sp>
        <p:nvSpPr>
          <p:cNvPr id="62" name="Text 59"/>
          <p:cNvSpPr/>
          <p:nvPr/>
        </p:nvSpPr>
        <p:spPr>
          <a:xfrm>
            <a:off x="14433203" y="5695950"/>
            <a:ext cx="1286619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0.79</a:t>
            </a:r>
            <a:endParaRPr lang="en-US" sz="1800" dirty="0"/>
          </a:p>
        </p:txBody>
      </p:sp>
      <p:sp>
        <p:nvSpPr>
          <p:cNvPr id="63" name="Text 60"/>
          <p:cNvSpPr/>
          <p:nvPr/>
        </p:nvSpPr>
        <p:spPr>
          <a:xfrm>
            <a:off x="15662672" y="5695950"/>
            <a:ext cx="1510903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E2A55"/>
                </a:solidFill>
                <a:latin typeface="Bookman Old Style" pitchFamily="34" charset="0"/>
              </a:rPr>
              <a:t>12ms</a:t>
            </a:r>
            <a:endParaRPr lang="en-US" sz="1800" dirty="0"/>
          </a:p>
        </p:txBody>
      </p:sp>
      <p:sp>
        <p:nvSpPr>
          <p:cNvPr id="64" name="Shape 61"/>
          <p:cNvSpPr/>
          <p:nvPr/>
        </p:nvSpPr>
        <p:spPr>
          <a:xfrm>
            <a:off x="1143000" y="9310688"/>
            <a:ext cx="133350" cy="133350"/>
          </a:xfrm>
          <a:prstGeom prst="ellipse">
            <a:avLst/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65" name="Text 62"/>
          <p:cNvSpPr/>
          <p:nvPr/>
        </p:nvSpPr>
        <p:spPr>
          <a:xfrm>
            <a:off x="1428750" y="9229725"/>
            <a:ext cx="1183302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Higher Silhouette and F1 are better; lower alert latency is better. </a:t>
            </a:r>
            <a:r>
              <a:rPr lang="en-US" sz="1950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Results to be filled in Review 2.</a:t>
            </a:r>
            <a:endParaRPr lang="en-US" sz="1950" dirty="0"/>
          </a:p>
        </p:txBody>
      </p:sp>
      <p:sp>
        <p:nvSpPr>
          <p:cNvPr id="66" name="Text 63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60506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372237" y="1333500"/>
            <a:ext cx="215312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 PLAN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5044187" y="1752600"/>
            <a:ext cx="8199626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Team Roles &amp; Work Plan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628775" y="3524250"/>
            <a:ext cx="38100" cy="1314450"/>
          </a:xfrm>
          <a:prstGeom prst="rect">
            <a:avLst/>
          </a:prstGeom>
          <a:solidFill>
            <a:srgbClr val="D7DCE6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333500" y="340042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553468" y="3548063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50" dirty="0"/>
          </a:p>
        </p:txBody>
      </p:sp>
      <p:sp>
        <p:nvSpPr>
          <p:cNvPr id="9" name="Shape 6"/>
          <p:cNvSpPr/>
          <p:nvPr/>
        </p:nvSpPr>
        <p:spPr>
          <a:xfrm>
            <a:off x="2247900" y="314325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2524125" y="334327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Navadeep</a:t>
            </a:r>
            <a:endParaRPr lang="en-US" sz="2175" dirty="0"/>
          </a:p>
        </p:txBody>
      </p:sp>
      <p:sp>
        <p:nvSpPr>
          <p:cNvPr id="11" name="Text 8"/>
          <p:cNvSpPr/>
          <p:nvPr/>
        </p:nvSpPr>
        <p:spPr>
          <a:xfrm>
            <a:off x="2524125" y="3705225"/>
            <a:ext cx="864884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 collection, cleaning &amp; geocoding of accident records</a:t>
            </a:r>
            <a:endParaRPr lang="en-US" sz="2550" dirty="0"/>
          </a:p>
        </p:txBody>
      </p:sp>
      <p:sp>
        <p:nvSpPr>
          <p:cNvPr id="12" name="Shape 9"/>
          <p:cNvSpPr/>
          <p:nvPr/>
        </p:nvSpPr>
        <p:spPr>
          <a:xfrm>
            <a:off x="15277951" y="3476625"/>
            <a:ext cx="1590824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 fontScale="92500" lnSpcReduction="10000"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5487501" y="3571875"/>
            <a:ext cx="12479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1–3</a:t>
            </a:r>
            <a:endParaRPr lang="en-US" sz="1875" dirty="0"/>
          </a:p>
        </p:txBody>
      </p:sp>
      <p:sp>
        <p:nvSpPr>
          <p:cNvPr id="14" name="Shape 11"/>
          <p:cNvSpPr/>
          <p:nvPr/>
        </p:nvSpPr>
        <p:spPr>
          <a:xfrm>
            <a:off x="1333500" y="489272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553468" y="5040362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2247900" y="463555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524125" y="483557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</a:rPr>
              <a:t>Shanmukh</a:t>
            </a:r>
            <a:endParaRPr lang="en-US" sz="2175" dirty="0"/>
          </a:p>
        </p:txBody>
      </p:sp>
      <p:sp>
        <p:nvSpPr>
          <p:cNvPr id="18" name="Text 15"/>
          <p:cNvSpPr/>
          <p:nvPr/>
        </p:nvSpPr>
        <p:spPr>
          <a:xfrm>
            <a:off x="2524125" y="5197524"/>
            <a:ext cx="10416020" cy="4762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Clustering &amp; risk-classification model design, training &amp; evaluation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5277951" y="4968925"/>
            <a:ext cx="1590824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 fontScale="92500" lnSpcReduction="10000"/>
          </a:bodyPr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5487501" y="5064175"/>
            <a:ext cx="12479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3–7</a:t>
            </a:r>
            <a:endParaRPr lang="en-US" sz="1875" dirty="0"/>
          </a:p>
        </p:txBody>
      </p:sp>
      <p:sp>
        <p:nvSpPr>
          <p:cNvPr id="21" name="Shape 18"/>
          <p:cNvSpPr/>
          <p:nvPr/>
        </p:nvSpPr>
        <p:spPr>
          <a:xfrm>
            <a:off x="1333500" y="638487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1553468" y="6532513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50" dirty="0"/>
          </a:p>
        </p:txBody>
      </p:sp>
      <p:sp>
        <p:nvSpPr>
          <p:cNvPr id="23" name="Shape 20"/>
          <p:cNvSpPr/>
          <p:nvPr/>
        </p:nvSpPr>
        <p:spPr>
          <a:xfrm>
            <a:off x="2247900" y="612770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2524125" y="632772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1E2A55"/>
                </a:solidFill>
                <a:latin typeface="Bookman Old Style" pitchFamily="34" charset="0"/>
              </a:rPr>
              <a:t>Rithik</a:t>
            </a:r>
            <a:endParaRPr lang="en-US" sz="2175" dirty="0"/>
          </a:p>
        </p:txBody>
      </p:sp>
      <p:sp>
        <p:nvSpPr>
          <p:cNvPr id="25" name="Text 22"/>
          <p:cNvSpPr/>
          <p:nvPr/>
        </p:nvSpPr>
        <p:spPr>
          <a:xfrm>
            <a:off x="2524125" y="6689675"/>
            <a:ext cx="1071968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Real-time alert web interface (React, Tailwind &amp; FastAPI) + integration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15277951" y="6461075"/>
            <a:ext cx="1590824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 fontScale="92500" lnSpcReduction="10000"/>
          </a:bodyPr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15487501" y="6556325"/>
            <a:ext cx="12479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5–9</a:t>
            </a:r>
            <a:endParaRPr lang="en-US" sz="1875" dirty="0"/>
          </a:p>
        </p:txBody>
      </p:sp>
      <p:sp>
        <p:nvSpPr>
          <p:cNvPr id="28" name="Shape 25"/>
          <p:cNvSpPr/>
          <p:nvPr/>
        </p:nvSpPr>
        <p:spPr>
          <a:xfrm>
            <a:off x="1333500" y="7877175"/>
            <a:ext cx="628650" cy="628650"/>
          </a:xfrm>
          <a:prstGeom prst="ellipse">
            <a:avLst/>
          </a:prstGeom>
          <a:solidFill>
            <a:srgbClr val="1E2A55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1553468" y="8024812"/>
            <a:ext cx="2649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50" dirty="0"/>
          </a:p>
        </p:txBody>
      </p:sp>
      <p:sp>
        <p:nvSpPr>
          <p:cNvPr id="30" name="Shape 27"/>
          <p:cNvSpPr/>
          <p:nvPr/>
        </p:nvSpPr>
        <p:spPr>
          <a:xfrm>
            <a:off x="2247900" y="7620000"/>
            <a:ext cx="14897100" cy="1143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52400" dist="57150" dir="5400000" algn="bl" rotWithShape="0">
              <a:srgbClr val="141E3C">
                <a:alpha val="7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2524125" y="7820025"/>
            <a:ext cx="25463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 err="1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Inderneel</a:t>
            </a:r>
            <a:endParaRPr lang="en-US" sz="2175" dirty="0"/>
          </a:p>
        </p:txBody>
      </p:sp>
      <p:sp>
        <p:nvSpPr>
          <p:cNvPr id="32" name="Text 29"/>
          <p:cNvSpPr/>
          <p:nvPr/>
        </p:nvSpPr>
        <p:spPr>
          <a:xfrm>
            <a:off x="2524125" y="8181975"/>
            <a:ext cx="1041602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data integration (weather/traffic API), testing &amp; ablation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15120789" y="7953375"/>
            <a:ext cx="1747986" cy="476250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/>
        </p:spPr>
        <p:txBody>
          <a:bodyPr wrap="square">
            <a:normAutofit fontScale="92500" lnSpcReduction="10000"/>
          </a:bodyPr>
          <a:lstStyle/>
          <a:p>
            <a:endParaRPr/>
          </a:p>
        </p:txBody>
      </p:sp>
      <p:sp>
        <p:nvSpPr>
          <p:cNvPr id="34" name="Text 31"/>
          <p:cNvSpPr/>
          <p:nvPr/>
        </p:nvSpPr>
        <p:spPr>
          <a:xfrm>
            <a:off x="15330339" y="8048625"/>
            <a:ext cx="140508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 7–11</a:t>
            </a:r>
            <a:endParaRPr lang="en-US" sz="1875" dirty="0"/>
          </a:p>
        </p:txBody>
      </p:sp>
      <p:sp>
        <p:nvSpPr>
          <p:cNvPr id="35" name="Shape 32"/>
          <p:cNvSpPr/>
          <p:nvPr/>
        </p:nvSpPr>
        <p:spPr>
          <a:xfrm>
            <a:off x="1143000" y="8896350"/>
            <a:ext cx="16002000" cy="685800"/>
          </a:xfrm>
          <a:prstGeom prst="roundRect">
            <a:avLst>
              <a:gd name="adj" fmla="val 16667"/>
            </a:avLst>
          </a:prstGeom>
          <a:solidFill>
            <a:srgbClr val="EEF1F8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6" name="Shape 33"/>
          <p:cNvSpPr/>
          <p:nvPr/>
        </p:nvSpPr>
        <p:spPr>
          <a:xfrm>
            <a:off x="1143000" y="8896350"/>
            <a:ext cx="76200" cy="685800"/>
          </a:xfrm>
          <a:prstGeom prst="rect">
            <a:avLst/>
          </a:prstGeom>
          <a:solidFill>
            <a:srgbClr val="C8202E"/>
          </a:solidFill>
          <a:ln/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37" name="Text 34"/>
          <p:cNvSpPr/>
          <p:nvPr/>
        </p:nvSpPr>
        <p:spPr>
          <a:xfrm>
            <a:off x="1504950" y="9086850"/>
            <a:ext cx="1688973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All modules are integrated and tested jointly in </a:t>
            </a:r>
            <a:r>
              <a:rPr lang="en-US" sz="202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Weeks 10–12 </a:t>
            </a: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before the final review.</a:t>
            </a:r>
            <a:endParaRPr lang="en-US" sz="2025" dirty="0"/>
          </a:p>
        </p:txBody>
      </p:sp>
      <p:sp>
        <p:nvSpPr>
          <p:cNvPr id="38" name="Text 35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81764" y="1447800"/>
            <a:ext cx="457200" cy="57150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175627" y="1333500"/>
            <a:ext cx="254619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75" b="1" kern="0" spc="375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IEEE FORMAT</a:t>
            </a:r>
            <a:endParaRPr lang="en-US" sz="1875" dirty="0"/>
          </a:p>
        </p:txBody>
      </p:sp>
      <p:sp>
        <p:nvSpPr>
          <p:cNvPr id="5" name="Text 2"/>
          <p:cNvSpPr/>
          <p:nvPr/>
        </p:nvSpPr>
        <p:spPr>
          <a:xfrm>
            <a:off x="7312238" y="1752600"/>
            <a:ext cx="3663523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50" b="1" kern="0" spc="-37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References</a:t>
            </a:r>
            <a:endParaRPr lang="en-US" sz="4650" dirty="0"/>
          </a:p>
        </p:txBody>
      </p:sp>
      <p:sp>
        <p:nvSpPr>
          <p:cNvPr id="6" name="Shape 3"/>
          <p:cNvSpPr/>
          <p:nvPr/>
        </p:nvSpPr>
        <p:spPr>
          <a:xfrm>
            <a:off x="1143000" y="27241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438275" y="28765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[1]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2105025" y="28765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"Road accident prediction and model interpretation using a hybrid k-means and random forest algorithm approach,"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SN Applied Sciences 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vol. 2, pp. 1–13, 2020.</a:t>
            </a:r>
            <a:endParaRPr lang="en-US" sz="2625" dirty="0"/>
          </a:p>
        </p:txBody>
      </p:sp>
      <p:sp>
        <p:nvSpPr>
          <p:cNvPr id="9" name="Shape 6"/>
          <p:cNvSpPr/>
          <p:nvPr/>
        </p:nvSpPr>
        <p:spPr>
          <a:xfrm>
            <a:off x="1143000" y="40195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1438275" y="41719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[2]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2105025" y="41719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"Estimation of road accident risk with machine learning,"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Ph.D. dissertation, Concordia University 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2020.</a:t>
            </a:r>
            <a:endParaRPr lang="en-US" sz="2625" dirty="0"/>
          </a:p>
        </p:txBody>
      </p:sp>
      <p:sp>
        <p:nvSpPr>
          <p:cNvPr id="12" name="Shape 9"/>
          <p:cNvSpPr/>
          <p:nvPr/>
        </p:nvSpPr>
        <p:spPr>
          <a:xfrm>
            <a:off x="1143000" y="53149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438275" y="54673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[3]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2105025" y="54673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"A Machine Learning Approach for Classifying Road Accident Hotspots,"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ISPRS International Journal of Geo-Information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vol. 12, no. 6, art. 227, 2023.</a:t>
            </a:r>
            <a:endParaRPr lang="en-US" sz="2625" dirty="0"/>
          </a:p>
        </p:txBody>
      </p:sp>
      <p:sp>
        <p:nvSpPr>
          <p:cNvPr id="15" name="Shape 12"/>
          <p:cNvSpPr/>
          <p:nvPr/>
        </p:nvSpPr>
        <p:spPr>
          <a:xfrm>
            <a:off x="1143000" y="66103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1438275" y="67627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[4]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2105025" y="67627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"Predicting errors in accident hotspots and investigating spatiotemporal, weather, and behavioral factors using interpretable machine learning,"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PLOS ONE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2025.</a:t>
            </a:r>
            <a:endParaRPr lang="en-US" sz="2625" dirty="0"/>
          </a:p>
        </p:txBody>
      </p:sp>
      <p:sp>
        <p:nvSpPr>
          <p:cNvPr id="18" name="Shape 15"/>
          <p:cNvSpPr/>
          <p:nvPr/>
        </p:nvSpPr>
        <p:spPr>
          <a:xfrm>
            <a:off x="1143000" y="7905750"/>
            <a:ext cx="1600200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  <a:effectLst>
            <a:outerShdw blurRad="133350" dist="47625" dir="5400000" algn="bl" rotWithShape="0">
              <a:srgbClr val="141E3C">
                <a:alpha val="5000"/>
              </a:srgbClr>
            </a:outerShdw>
          </a:effectLst>
        </p:spPr>
        <p:txBody>
          <a:bodyPr wrap="square">
            <a:normAutofit/>
          </a:bodyPr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438275" y="8058150"/>
            <a:ext cx="5143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[5]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2105025" y="8058150"/>
            <a:ext cx="15187041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"A study on road accident prediction and contributing factors using explainable machine learning models," </a:t>
            </a:r>
            <a:r>
              <a:rPr lang="en-US" sz="2625" i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ScienceDirect</a:t>
            </a:r>
            <a:r>
              <a:rPr lang="en-US" sz="26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, 2023.</a:t>
            </a:r>
            <a:endParaRPr lang="en-US" sz="2625" dirty="0"/>
          </a:p>
        </p:txBody>
      </p:sp>
      <p:sp>
        <p:nvSpPr>
          <p:cNvPr id="21" name="Text 18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75" dirty="0">
                <a:solidFill>
                  <a:srgbClr val="8A92A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24399" y="3057525"/>
            <a:ext cx="52214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kern="0" spc="450" dirty="0">
                <a:solidFill>
                  <a:srgbClr val="C820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MINI PROJECT REVIEW — 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115572" y="3619500"/>
            <a:ext cx="8056706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0" b="1" kern="0" spc="-150" dirty="0">
                <a:solidFill>
                  <a:srgbClr val="1E2A5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Thank You</a:t>
            </a:r>
            <a:endParaRPr lang="en-US" sz="10500" dirty="0"/>
          </a:p>
        </p:txBody>
      </p:sp>
      <p:sp>
        <p:nvSpPr>
          <p:cNvPr id="7" name="Text 4"/>
          <p:cNvSpPr/>
          <p:nvPr/>
        </p:nvSpPr>
        <p:spPr>
          <a:xfrm>
            <a:off x="6441958" y="5181600"/>
            <a:ext cx="5403934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1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Questions &amp; Discussion</a:t>
            </a:r>
            <a:endParaRPr lang="en-US" sz="3150" dirty="0"/>
          </a:p>
        </p:txBody>
      </p:sp>
      <p:sp>
        <p:nvSpPr>
          <p:cNvPr id="8" name="Shape 5"/>
          <p:cNvSpPr/>
          <p:nvPr/>
        </p:nvSpPr>
        <p:spPr>
          <a:xfrm>
            <a:off x="8572500" y="6057900"/>
            <a:ext cx="1143000" cy="47625"/>
          </a:xfrm>
          <a:prstGeom prst="roundRect">
            <a:avLst>
              <a:gd name="adj" fmla="val 50000"/>
            </a:avLst>
          </a:prstGeom>
          <a:solidFill>
            <a:srgbClr val="C8202E"/>
          </a:solidFill>
          <a:ln/>
        </p:spPr>
        <p:txBody>
          <a:bodyPr wrap="square">
            <a:normAutofit fontScale="25000" lnSpcReduction="20000"/>
          </a:bodyPr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3945359" y="6505575"/>
            <a:ext cx="1039728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Department of Artificial Intelligence · Anurag University, Hyderabad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4448115" y="6934200"/>
            <a:ext cx="939176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025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AI-Driven Road Accident Risk Zone Detection and Real-Time Alert System</a:t>
            </a:r>
            <a:endParaRPr lang="en-US" sz="2025" dirty="0"/>
          </a:p>
        </p:txBody>
      </p:sp>
      <p:sp>
        <p:nvSpPr>
          <p:cNvPr id="11" name="Text 8"/>
          <p:cNvSpPr/>
          <p:nvPr/>
        </p:nvSpPr>
        <p:spPr>
          <a:xfrm>
            <a:off x="-914400" y="9810750"/>
            <a:ext cx="201168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1746</Words>
  <Application>Microsoft Office PowerPoint</Application>
  <PresentationFormat>Custom</PresentationFormat>
  <Paragraphs>305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Bookman Old Style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shanmukh chowdary</cp:lastModifiedBy>
  <cp:revision>11</cp:revision>
  <dcterms:created xsi:type="dcterms:W3CDTF">2026-06-28T12:25:34Z</dcterms:created>
  <dcterms:modified xsi:type="dcterms:W3CDTF">2026-07-14T04:16:11Z</dcterms:modified>
</cp:coreProperties>
</file>