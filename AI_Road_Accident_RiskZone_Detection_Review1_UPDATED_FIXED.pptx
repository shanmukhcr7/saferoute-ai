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73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facial age and gender estimation using a lightweight deep learning model.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sections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face carries age and gender cues; CNNs can learn them. Our system predicts age and gender from a single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challenges: exact age is hard, image variation, heavy models, and dataset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goal precisely, then show the input-to-output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of prior work, their limitations, and how we improve 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open gaps in the literature and our single approach that addresses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project objectives from data preparation through evaluation and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 from image upload to displayed prediction, plus the datasets and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contributions — efficiency, fairness, robustness — and the novelty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plan across two datasets; numbers to be filled after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ownership and the week-by-week work plan, with joint integration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references in IEEE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8483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700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6880860" y="1418034"/>
            <a:ext cx="4526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25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REVIEW — 1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1137285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2062356" y="2037159"/>
            <a:ext cx="14163288" cy="8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850" b="1" kern="0" spc="-75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4633280" y="2972842"/>
            <a:ext cx="902129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and Real-Time Alert System</a:t>
            </a:r>
            <a:endParaRPr lang="en-US" sz="3750" dirty="0"/>
          </a:p>
        </p:txBody>
      </p:sp>
      <p:sp>
        <p:nvSpPr>
          <p:cNvPr id="8" name="Shape 5"/>
          <p:cNvSpPr/>
          <p:nvPr/>
        </p:nvSpPr>
        <p:spPr>
          <a:xfrm>
            <a:off x="5800279" y="3763417"/>
            <a:ext cx="6687443" cy="600075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004767" y="3877717"/>
            <a:ext cx="62784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kern="0" spc="22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4191000" y="485879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481214" y="5249317"/>
            <a:ext cx="21694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74482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23EG106B31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286875" y="4943475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9577089" y="5249317"/>
            <a:ext cx="21694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 err="1">
                <a:solidFill>
                  <a:srgbClr val="000000"/>
                </a:solidFill>
                <a:latin typeface="Bookman Old Style" pitchFamily="34" charset="0"/>
              </a:rPr>
              <a:t>Inderneel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1670357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23EG106B59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4191000" y="617324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633280" y="6525667"/>
            <a:ext cx="20174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</a:rPr>
              <a:t>Rithik Teja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574482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23EG106B60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265294" y="6257411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433728" y="6525667"/>
            <a:ext cx="22366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</a:rPr>
              <a:t>Shanmukh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670357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23EG106B62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553937" y="7678192"/>
            <a:ext cx="5179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Guide: </a:t>
            </a: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Dr./Mr./Ravi Krishna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6024652" y="8078242"/>
            <a:ext cx="6238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</a:rPr>
              <a:t>Designation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5895380" y="8630692"/>
            <a:ext cx="3767584" cy="514350"/>
          </a:xfrm>
          <a:prstGeom prst="roundRect">
            <a:avLst>
              <a:gd name="adj" fmla="val 50000"/>
            </a:avLst>
          </a:prstGeom>
          <a:solidFill>
            <a:srgbClr val="1E2A55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124616" y="8744992"/>
            <a:ext cx="33091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Academic Year 2026–27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9872514" y="8621167"/>
            <a:ext cx="2520107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0129689" y="8744992"/>
            <a:ext cx="20057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July 2026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0815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644652" y="1333500"/>
            <a:ext cx="16082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931564" y="1752600"/>
            <a:ext cx="24247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4780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0970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2190750" y="3361283"/>
            <a:ext cx="22197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35355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65835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2025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01300" y="3361283"/>
            <a:ext cx="3373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14300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44780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40970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2190750" y="4721423"/>
            <a:ext cx="30713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5355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965835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2025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0401300" y="4721423"/>
            <a:ext cx="25548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14300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144780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40970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2190750" y="6081564"/>
            <a:ext cx="18171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35355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65835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962025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0401300" y="6081564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14300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144780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140970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2190750" y="7441704"/>
            <a:ext cx="30040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35355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965835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962025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10401300" y="7441704"/>
            <a:ext cx="3594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14300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144780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0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875" dirty="0"/>
          </a:p>
        </p:txBody>
      </p:sp>
      <p:sp>
        <p:nvSpPr>
          <p:cNvPr id="41" name="Text 38"/>
          <p:cNvSpPr/>
          <p:nvPr/>
        </p:nvSpPr>
        <p:spPr>
          <a:xfrm>
            <a:off x="2190750" y="8801993"/>
            <a:ext cx="429151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935355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965835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962025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875" dirty="0"/>
          </a:p>
        </p:txBody>
      </p:sp>
      <p:sp>
        <p:nvSpPr>
          <p:cNvPr id="45" name="Text 42"/>
          <p:cNvSpPr/>
          <p:nvPr/>
        </p:nvSpPr>
        <p:spPr>
          <a:xfrm>
            <a:off x="10401300" y="8801993"/>
            <a:ext cx="19178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798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479475" y="1333500"/>
            <a:ext cx="19385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OVERVIEW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24933" y="1752600"/>
            <a:ext cx="42379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005565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85900" y="2833092"/>
            <a:ext cx="9359456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 accidents remain one of the leading causes of preventable death worldwide — most crashes cluster around specific </a:t>
            </a:r>
            <a:r>
              <a:rPr lang="en-US" sz="26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</a:t>
            </a:r>
            <a:r>
              <a:rPr lang="en-US" sz="26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locations and </a:t>
            </a:r>
            <a:r>
              <a:rPr lang="en-US" sz="26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conditions</a:t>
            </a:r>
            <a:r>
              <a:rPr lang="en-US" sz="26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143000" y="4789242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485900" y="4518422"/>
            <a:ext cx="9359456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Useful for driver safety alerts, traffic-police deployment, urban planning, and insurance risk assessment.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143000" y="6072783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485900" y="5879683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black-spot marking is slow, static, and cannot adapt to changing traffic or weather conditions.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7278886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458190" y="7085786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models can learn accident-prone spatio-temporal patterns directly from historical and live data with high accuracy.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049000" y="2943225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2585948" y="3171825"/>
            <a:ext cx="3429906" cy="447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&amp; Traffic Data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2382304" y="3543300"/>
            <a:ext cx="3356450" cy="447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records + live feeds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3977938" y="42957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18" name="Shape 15"/>
          <p:cNvSpPr/>
          <p:nvPr/>
        </p:nvSpPr>
        <p:spPr>
          <a:xfrm>
            <a:off x="11049000" y="4800600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2585948" y="5067300"/>
            <a:ext cx="33241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585948" y="5419725"/>
            <a:ext cx="3324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classification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977938" y="61245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22" name="Shape 19"/>
          <p:cNvSpPr/>
          <p:nvPr/>
        </p:nvSpPr>
        <p:spPr>
          <a:xfrm>
            <a:off x="11049000" y="6629400"/>
            <a:ext cx="6096000" cy="1171575"/>
          </a:xfrm>
          <a:prstGeom prst="roundRect">
            <a:avLst>
              <a:gd name="adj" fmla="val 14634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2851160" y="6896100"/>
            <a:ext cx="27406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2851160" y="7267575"/>
            <a:ext cx="27406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map &amp; live notification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7663011"/>
            <a:ext cx="9429750" cy="1919139"/>
          </a:xfrm>
          <a:prstGeom prst="roundRect">
            <a:avLst>
              <a:gd name="adj" fmla="val 6948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1143000" y="7663011"/>
            <a:ext cx="76200" cy="1919139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524000" y="7910661"/>
            <a:ext cx="9006269" cy="1461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project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builds an AI-driven system that detects road accident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issues real-time alerts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drivers before they enter danger.</a:t>
            </a:r>
            <a:endParaRPr lang="en-US" sz="277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7163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280559" y="1333500"/>
            <a:ext cx="2336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MOTIVATION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41795" y="1752600"/>
            <a:ext cx="420426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514475" y="3343275"/>
            <a:ext cx="38935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Reactive Safety Measures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514475" y="3867150"/>
            <a:ext cx="7299198" cy="96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Black spots are identified only after accidents occur — prevention happens too late.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931545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686925" y="3343275"/>
            <a:ext cx="30497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Fragmented Data Sources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9686925" y="386715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traffic, weather, and road-condition data are stored in silos, rarely fused for prediction.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514475" y="6753225"/>
            <a:ext cx="24826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Risk Maps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51447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hotspot maps don't update with real-time traffic, weather, or time-of-day conditions.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931545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686925" y="6753225"/>
            <a:ext cx="33331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Advance Driver Warning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68692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 get no proactive alert before entering high-risk stretches, especially at night or low visibility.</a:t>
            </a:r>
            <a:endParaRPr lang="en-US" sz="277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939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965406" y="1333500"/>
            <a:ext cx="9667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920703" y="1752600"/>
            <a:ext cx="644644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16002000" cy="3148013"/>
          </a:xfrm>
          <a:prstGeom prst="roundRect">
            <a:avLst>
              <a:gd name="adj" fmla="val 6051"/>
            </a:avLst>
          </a:prstGeom>
          <a:solidFill>
            <a:srgbClr val="1E2A55"/>
          </a:solidFill>
          <a:ln/>
          <a:effectLst>
            <a:outerShdw blurRad="285750" dist="133350" dir="5400000" algn="bl" rotWithShape="0">
              <a:srgbClr val="141E3C">
                <a:alpha val="2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657350" y="3409950"/>
            <a:ext cx="15422499" cy="2309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develop an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risk-zone detection and alert system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 fuses historical accident records with real-time traffic, weather, and location data to identify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road zones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proactively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notify drivers and traffic authorities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a vehicle enters a dangerous stretch — while remaining lightweight and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responsive enough for real-time deployment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143000" y="6858000"/>
            <a:ext cx="4376738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96578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+ Live Data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96578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records, GPS, weather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5805488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2" name="Shape 9"/>
          <p:cNvSpPr/>
          <p:nvPr/>
        </p:nvSpPr>
        <p:spPr>
          <a:xfrm>
            <a:off x="6586538" y="6858000"/>
            <a:ext cx="5153025" cy="1143000"/>
          </a:xfrm>
          <a:prstGeom prst="roundRect">
            <a:avLst>
              <a:gd name="adj" fmla="val 13333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601301" y="7105650"/>
            <a:ext cx="51234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Model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01301" y="7496175"/>
            <a:ext cx="51234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12025313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6" name="Shape 13"/>
          <p:cNvSpPr/>
          <p:nvPr/>
        </p:nvSpPr>
        <p:spPr>
          <a:xfrm>
            <a:off x="12806363" y="6877050"/>
            <a:ext cx="4338638" cy="1104900"/>
          </a:xfrm>
          <a:prstGeom prst="roundRect">
            <a:avLst>
              <a:gd name="adj" fmla="val 13793"/>
            </a:avLst>
          </a:prstGeom>
          <a:solidFill>
            <a:srgbClr val="1E2A55"/>
          </a:solidFill>
          <a:ln/>
          <a:effectLst>
            <a:outerShdw blurRad="209550" dist="9525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2840891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840891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 &amp; live notification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1143000" y="8543925"/>
            <a:ext cx="5800725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400175" y="8743950"/>
            <a:ext cx="58150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USERS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400175" y="9048750"/>
            <a:ext cx="5815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Drivers, traffic police, city planners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7210425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467600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467600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accident data + live GPS/weather feed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2311063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2568238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2568238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 + real-time alert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15225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992428" y="1333500"/>
            <a:ext cx="291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RELATED WORK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13083" y="1752600"/>
            <a:ext cx="58618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33700"/>
            <a:ext cx="16002000" cy="4610100"/>
          </a:xfrm>
          <a:prstGeom prst="roundRect">
            <a:avLst>
              <a:gd name="adj" fmla="val 2893"/>
            </a:avLst>
          </a:prstGeom>
          <a:ln/>
          <a:effectLst>
            <a:outerShdw blurRad="247650" dist="95250" dir="5400000" algn="bl" rotWithShape="0">
              <a:srgbClr val="141E3C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143000" y="2933700"/>
            <a:ext cx="16002000" cy="666750"/>
          </a:xfrm>
          <a:prstGeom prst="rect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352550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Paper / Author (Year)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5192911" y="3124200"/>
            <a:ext cx="3866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 Used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9353401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2984212" y="2933700"/>
            <a:ext cx="4160788" cy="666750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3193762" y="3124200"/>
            <a:ext cx="38665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Improvement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1143000" y="3600450"/>
            <a:ext cx="16002000" cy="12001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352550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Yassin &amp; Pooja, SN Applied Sciences (2020)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192911" y="3771900"/>
            <a:ext cx="38662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Hybrid k-means clustering + random forest for accident severity, 99.86% accuracy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353401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Small, localized dataset; no real-time alert integration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2984212" y="3600450"/>
            <a:ext cx="4160788" cy="1200150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3193762" y="3771900"/>
            <a:ext cx="38665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Multi-region data + live alert layer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143000" y="48006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352550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Hébert, Concordia University Thesis (2020)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5192911" y="49720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Balanced random forest fusing accident, weather &amp; road-network data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353401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 batch prediction only; no live driver alerts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2984212" y="48006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3193762" y="49720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pipeline built on top of the risk model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143000" y="5715000"/>
            <a:ext cx="160020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352550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for Classifying Accident Hotspots, ISPRS Int. J. Geo-Inf. (2023)</a:t>
            </a:r>
          </a:p>
        </p:txBody>
      </p:sp>
      <p:sp>
        <p:nvSpPr>
          <p:cNvPr id="27" name="Text 24"/>
          <p:cNvSpPr/>
          <p:nvPr/>
        </p:nvSpPr>
        <p:spPr>
          <a:xfrm>
            <a:off x="5192911" y="58864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SVM, random forest &amp; MLP for federal-highway hotspot classification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9353401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classes; alerting remains a stated future goal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2984212" y="5715000"/>
            <a:ext cx="4160788" cy="914400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13193762" y="58864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Working real-time, location-triggered alert mechanism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143000" y="66294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1352550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75" b="1" dirty="0" err="1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 interpretable ML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</a:t>
            </a:r>
            <a:r>
              <a:rPr lang="en-US" sz="1875" b="1" dirty="0" err="1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(2025)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5192911" y="68008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Interpretable ML on fleet telematics to flag driver-error hotspots</a:t>
            </a:r>
            <a:endParaRPr lang="en-US" sz="1875" dirty="0"/>
          </a:p>
        </p:txBody>
      </p:sp>
      <p:sp>
        <p:nvSpPr>
          <p:cNvPr id="34" name="Text 31"/>
          <p:cNvSpPr/>
          <p:nvPr/>
        </p:nvSpPr>
        <p:spPr>
          <a:xfrm>
            <a:off x="9353401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Needs costly in-vehicle telematics hardware fleet-wide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2984212" y="66294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3193762" y="68008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Hardware-free, GPS-only alerting usable on any smartphone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1143000" y="7791450"/>
            <a:ext cx="16002000" cy="1165622"/>
          </a:xfrm>
          <a:prstGeom prst="roundRect">
            <a:avLst>
              <a:gd name="adj" fmla="val 9806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1143000" y="7791450"/>
            <a:ext cx="76200" cy="1165622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504950" y="8001000"/>
            <a:ext cx="1581492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takeaway: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work offers static hotspot maps, offline severity classifiers, or hardware-heavy telematics — our project targets a </a:t>
            </a: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lightweight, real-time, alert-integrated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solution.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091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811691" y="1333500"/>
            <a:ext cx="32742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MISSING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702914" y="1752600"/>
            <a:ext cx="488202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38275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00175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Maps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2257425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hotspot studies produce fixed maps from historical data alone, never updated with live conditions.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9286875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9582150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544050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401300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Real-Time Alert Layer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10401300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Prediction models rarely connect to an actual driver-facing alert mechanism.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1143000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1438275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400175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257425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Hardware-Dependent Systems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2257425" y="6086475"/>
            <a:ext cx="664187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Telematics-based systems need costly in-vehicle hardware, out of reach for most vehicles and two-wheelers.</a:t>
            </a:r>
            <a:endParaRPr lang="en-US" sz="2625" dirty="0"/>
          </a:p>
        </p:txBody>
      </p:sp>
      <p:sp>
        <p:nvSpPr>
          <p:cNvPr id="21" name="Shape 18"/>
          <p:cNvSpPr/>
          <p:nvPr/>
        </p:nvSpPr>
        <p:spPr>
          <a:xfrm>
            <a:off x="9286875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9582150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9544050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G4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01300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Disconnected Data Sources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401300" y="60864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weather, and traffic-density data are rarely fused into a single spatio-temporal risk model.</a:t>
            </a:r>
            <a:endParaRPr lang="en-US" sz="2625" dirty="0"/>
          </a:p>
        </p:txBody>
      </p:sp>
      <p:sp>
        <p:nvSpPr>
          <p:cNvPr id="26" name="Shape 23"/>
          <p:cNvSpPr/>
          <p:nvPr/>
        </p:nvSpPr>
        <p:spPr>
          <a:xfrm>
            <a:off x="1143000" y="7925991"/>
            <a:ext cx="16002000" cy="1656159"/>
          </a:xfrm>
          <a:prstGeom prst="roundRect">
            <a:avLst>
              <a:gd name="adj" fmla="val 9202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485900" y="8615958"/>
            <a:ext cx="33637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SOLVE THEM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791521" y="8496895"/>
            <a:ext cx="19050" cy="5143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058221" y="8192691"/>
            <a:ext cx="12096195" cy="1160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geospatial ML pipeline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(Uber H3 Spatial Grids clustering + HistGradientBoosting risk scoring) fused with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location and weather data,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delivering lightweight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alerts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via a web/mobile interface — no special hardware needed.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8424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738348" y="1333500"/>
            <a:ext cx="34209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WILL DO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409654" y="1752600"/>
            <a:ext cx="34685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3827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0017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09925"/>
            <a:ext cx="66124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collect and preprocess historical road-accident datasets (govt. open data / Kaggle RTA records) — including geocoding and cleaning.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931545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61072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57262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429875" y="3438971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fuse accident data with contextual features — time of day, weather, traffic density, and road type.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4300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341290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272015" y="6354203"/>
            <a:ext cx="7256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2049600" y="5747147"/>
            <a:ext cx="69553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apply spatial clustering (Uber H3 Spatial Grids/K-Means) for risk-zone identification and a classifier (Random Forest/HistGradientBoosting) for risk scoring.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1545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9610725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572625" y="6368058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29875" y="5976193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develop a real-time alert interface (React, Tailwind &amp; FastAPI) that warns users on approaching a high-risk zone.</a:t>
            </a:r>
            <a:endParaRPr lang="en-US" sz="2775" dirty="0"/>
          </a:p>
        </p:txBody>
      </p:sp>
      <p:sp>
        <p:nvSpPr>
          <p:cNvPr id="22" name="Shape 19"/>
          <p:cNvSpPr/>
          <p:nvPr/>
        </p:nvSpPr>
        <p:spPr>
          <a:xfrm>
            <a:off x="114300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143827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40017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2257425" y="8284369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evaluate using Silhouette score (clustering) and F1/precision-recall (risk classification), plus alert-latency testing.</a:t>
            </a:r>
            <a:endParaRPr lang="en-US" sz="2775" dirty="0"/>
          </a:p>
        </p:txBody>
      </p:sp>
      <p:sp>
        <p:nvSpPr>
          <p:cNvPr id="26" name="Shape 23"/>
          <p:cNvSpPr/>
          <p:nvPr/>
        </p:nvSpPr>
        <p:spPr>
          <a:xfrm>
            <a:off x="931545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55530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951720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277469" y="8139340"/>
            <a:ext cx="7210431" cy="1013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compare clustering approaches (K-Means vs Uber H3 Spatial Grids vs heuristic black-spot method) and run a feature-ablation study.</a:t>
            </a:r>
            <a:endParaRPr lang="en-US" sz="2300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60382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592108" y="1333500"/>
            <a:ext cx="171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369808" y="1752600"/>
            <a:ext cx="7548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857500"/>
            <a:ext cx="2731889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53091" y="3067050"/>
            <a:ext cx="2711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+ Live Data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153091" y="3352800"/>
            <a:ext cx="2711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51089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08289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412211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Geocode + Preprocess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4412211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 · geocode · merge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39757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796957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800878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7800878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+ risk score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28424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11185624" y="2876550"/>
            <a:ext cx="2693938" cy="895350"/>
          </a:xfrm>
          <a:prstGeom prst="roundRect">
            <a:avLst>
              <a:gd name="adj" fmla="val 14894"/>
            </a:avLst>
          </a:prstGeom>
          <a:solidFill>
            <a:srgbClr val="1E2A55"/>
          </a:solidFill>
          <a:ln/>
          <a:effectLst>
            <a:outerShdw blurRad="171450" dist="7620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1176657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176657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+ severity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955762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14412962" y="2857500"/>
            <a:ext cx="273203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4423045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Dashboard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4423045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 &amp; FastAPI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43000" y="4305300"/>
            <a:ext cx="8678317" cy="523875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476375" y="4581525"/>
            <a:ext cx="88127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 STEPS</a:t>
            </a:r>
            <a:endParaRPr lang="en-US" sz="1725" dirty="0"/>
          </a:p>
        </p:txBody>
      </p:sp>
      <p:sp>
        <p:nvSpPr>
          <p:cNvPr id="27" name="Text 24"/>
          <p:cNvSpPr/>
          <p:nvPr/>
        </p:nvSpPr>
        <p:spPr>
          <a:xfrm>
            <a:off x="1476375" y="503872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952625" y="5010150"/>
            <a:ext cx="5844332" cy="400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Collect &amp; geocode historical accident data.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476375" y="557126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952625" y="5514975"/>
            <a:ext cx="82158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</a:t>
            </a: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</a:t>
            </a: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points into risk zones (Uber H3 Spatial Grids).</a:t>
            </a:r>
            <a:endParaRPr lang="en-US" sz="2250" dirty="0"/>
          </a:p>
        </p:txBody>
      </p:sp>
      <p:sp>
        <p:nvSpPr>
          <p:cNvPr id="31" name="Text 28"/>
          <p:cNvSpPr/>
          <p:nvPr/>
        </p:nvSpPr>
        <p:spPr>
          <a:xfrm>
            <a:off x="1476375" y="608994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952625" y="5992090"/>
            <a:ext cx="74999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classifier to score zone risk using contextual features.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476375" y="660862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1952625" y="6524626"/>
            <a:ext cx="77613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 with live GPS + weather feed.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462520" y="715240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952625" y="7068409"/>
            <a:ext cx="7329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Trigger alert </a:t>
            </a: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</a:t>
            </a:r>
            <a:r>
              <a:rPr lang="en-US" sz="19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the user approaches a high-risk zone; show on map dashboard.</a:t>
            </a:r>
            <a:endParaRPr lang="en-US" sz="1900" dirty="0"/>
          </a:p>
        </p:txBody>
      </p:sp>
      <p:sp>
        <p:nvSpPr>
          <p:cNvPr id="37" name="Shape 34"/>
          <p:cNvSpPr/>
          <p:nvPr/>
        </p:nvSpPr>
        <p:spPr>
          <a:xfrm>
            <a:off x="10202317" y="4305300"/>
            <a:ext cx="6942683" cy="5238750"/>
          </a:xfrm>
          <a:prstGeom prst="roundRect">
            <a:avLst>
              <a:gd name="adj" fmla="val 3273"/>
            </a:avLst>
          </a:prstGeom>
          <a:solidFill>
            <a:srgbClr val="1E2A55"/>
          </a:solidFill>
          <a:ln/>
          <a:effectLst>
            <a:outerShdw blurRad="228600" dist="9525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0507117" y="4552950"/>
            <a:ext cx="69663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DATASETS &amp; TOOLS</a:t>
            </a:r>
            <a:endParaRPr lang="en-US" sz="1725" dirty="0"/>
          </a:p>
        </p:txBody>
      </p:sp>
      <p:sp>
        <p:nvSpPr>
          <p:cNvPr id="39" name="Shape 36"/>
          <p:cNvSpPr/>
          <p:nvPr/>
        </p:nvSpPr>
        <p:spPr>
          <a:xfrm>
            <a:off x="10507117" y="534352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0507117" y="4962526"/>
            <a:ext cx="2663532" cy="330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 · Road Accident Records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3475449" y="4962525"/>
            <a:ext cx="336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Govt / Kaggle RTA dataset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0507117" y="584835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10465552" y="5411931"/>
            <a:ext cx="2968332" cy="38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 Live Traffic &amp; Weather</a:t>
            </a: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13656513" y="5467350"/>
            <a:ext cx="3183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OpenWeather + traffic APIs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0507117" y="635317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10507117" y="5972175"/>
            <a:ext cx="7436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3576295" y="5972175"/>
            <a:ext cx="32639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0507117" y="685800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10507117" y="6477000"/>
            <a:ext cx="13881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2660823" y="6477000"/>
            <a:ext cx="41793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Python · Scikit-learn · Leaflet · React &amp; FastAPI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0507117" y="6981825"/>
            <a:ext cx="10225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3762598" y="6981825"/>
            <a:ext cx="3077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Colab / local machine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74670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607824" y="1333500"/>
            <a:ext cx="16818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75621" y="1752600"/>
            <a:ext cx="57367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5130701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57325" y="3305175"/>
            <a:ext cx="495225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Proactive Alerts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57325" y="3829050"/>
            <a:ext cx="4637112" cy="27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Unlike static hotspot maps, alerts are pushed live as a vehicle approaches a risk zone, using current time and weather context.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6578501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92826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Fused Risk Scoring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92826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Combines spatial clustering with contextual classification instead of simple historical accident counting.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2014150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2328475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 &amp; Accessible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328475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specialized telematics hardware — runs as a web/mobile dashboard usable by any GPS-enabled driver.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1143000" y="7860209"/>
            <a:ext cx="16002000" cy="1721941"/>
          </a:xfrm>
          <a:prstGeom prst="roundRect">
            <a:avLst>
              <a:gd name="adj" fmla="val 9957"/>
            </a:avLst>
          </a:prstGeom>
          <a:solidFill>
            <a:srgbClr val="1E2A55"/>
          </a:solidFill>
          <a:ln/>
          <a:effectLst>
            <a:outerShdw blurRad="266700" dist="114300" dir="5400000" algn="bl" rotWithShape="0">
              <a:srgbClr val="141E3C">
                <a:alpha val="2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524000" y="8145959"/>
            <a:ext cx="16764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 STATEMENT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524000" y="8469809"/>
            <a:ext cx="1569720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“Unlike static black-spot maps or hardware-heavy telematics systems, our lightweight AI pipeline fuses historical accident clustering with real-time contextual data to deliver proactive, location-aware safety alerts on any GPS-enabled device.”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9592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091206" y="1333500"/>
            <a:ext cx="47150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METHODS AND DATASETS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709017" y="1752600"/>
            <a:ext cx="686996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 wrap="square">
            <a:normAutofit fontScale="92500" lnSpcReduction="20000"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95400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82973" y="3000375"/>
            <a:ext cx="40662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Dataset · Accident Records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143000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143000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314450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40064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17903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47372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314450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35289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No clusters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13128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42597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10ms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314450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935289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0.48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13128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0.68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2597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45ms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314450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Spatial Grids Clustering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935289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213128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0.72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442597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5ms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143000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1314450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Uber H3 Spatial Grids+HistGradientBoosting (Ours)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935289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213128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082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42597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12ms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363075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 wrap="square">
            <a:normAutofit fontScale="92500" lnSpcReduction="20000"/>
          </a:bodyPr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9515475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0103048" y="3000375"/>
            <a:ext cx="518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Live/Test Dataset · Cross-validation split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9363075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9363075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9534525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260139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4537978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5767447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9363075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9534525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3155364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No clusters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4433203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0.58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5662672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10ms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363075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9534525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3155364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0.45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4433203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0.64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5662672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48ms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9363075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9534525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Spatial Grids Clustering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3155364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4433203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0.70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5662672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5ms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9363075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60" name="Text 57"/>
          <p:cNvSpPr/>
          <p:nvPr/>
        </p:nvSpPr>
        <p:spPr>
          <a:xfrm>
            <a:off x="9534525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Uber H3 Spatial Grids+HistGradientBoosting (Ours)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13155364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4433203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0.79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5662672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12ms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143000" y="9310688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65" name="Text 62"/>
          <p:cNvSpPr/>
          <p:nvPr/>
        </p:nvSpPr>
        <p:spPr>
          <a:xfrm>
            <a:off x="1428750" y="9229725"/>
            <a:ext cx="118330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Higher Silhouette and F1 are better; lower alert latency is better. </a:t>
            </a:r>
            <a:r>
              <a:rPr lang="en-US" sz="195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to be filled in Review 2.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05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372237" y="1333500"/>
            <a:ext cx="2153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PLAN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044187" y="1752600"/>
            <a:ext cx="81996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628775" y="3524250"/>
            <a:ext cx="38100" cy="1314450"/>
          </a:xfrm>
          <a:prstGeom prst="rect">
            <a:avLst/>
          </a:prstGeom>
          <a:solidFill>
            <a:srgbClr val="D7DCE6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333500" y="34004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553468" y="354806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2247900" y="31432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524125" y="33432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2524125" y="3705225"/>
            <a:ext cx="86488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collection, cleaning &amp; geocoding of accident records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5277951" y="34766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5487501" y="3571875"/>
            <a:ext cx="12479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1–3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333500" y="48927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553468" y="504036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2247900" y="46355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524125" y="48355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</a:rPr>
              <a:t>Shanmukh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2524125" y="5197524"/>
            <a:ext cx="10416020" cy="47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&amp; risk-classification model design, training &amp; evaluation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277951" y="49689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5487501" y="5064175"/>
            <a:ext cx="12479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3–7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333500" y="63848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553468" y="653251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2247900" y="61277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2524125" y="63277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</a:rPr>
              <a:t>Rithik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2524125" y="6689675"/>
            <a:ext cx="107196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web interface (React, Tailwind &amp; FastAPI) + integration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5277951" y="646107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5487501" y="6556325"/>
            <a:ext cx="12479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5–9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333500" y="78771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553468" y="802481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2247900" y="76200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2524125" y="78200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Inderneel</a:t>
            </a:r>
            <a:endParaRPr lang="en-US" sz="2175" dirty="0"/>
          </a:p>
        </p:txBody>
      </p:sp>
      <p:sp>
        <p:nvSpPr>
          <p:cNvPr id="32" name="Text 29"/>
          <p:cNvSpPr/>
          <p:nvPr/>
        </p:nvSpPr>
        <p:spPr>
          <a:xfrm>
            <a:off x="2524125" y="8181975"/>
            <a:ext cx="104160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data integration (weather/traffic API), testing &amp; ablation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15120789" y="7953375"/>
            <a:ext cx="1747986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15330339" y="8048625"/>
            <a:ext cx="1405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7–11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143000" y="8896350"/>
            <a:ext cx="16002000" cy="68580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1143000" y="8896350"/>
            <a:ext cx="76200" cy="685800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1504950" y="9086850"/>
            <a:ext cx="168897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modules are integrated and tested jointly in </a:t>
            </a:r>
            <a:r>
              <a:rPr lang="en-US" sz="202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Weeks 10–12 </a:t>
            </a: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the final review.</a:t>
            </a:r>
            <a:endParaRPr lang="en-US" sz="2025" dirty="0"/>
          </a:p>
        </p:txBody>
      </p:sp>
      <p:sp>
        <p:nvSpPr>
          <p:cNvPr id="38" name="Text 3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8176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175627" y="1333500"/>
            <a:ext cx="25461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IEEE FORMAT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312238" y="1752600"/>
            <a:ext cx="36635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7241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38275" y="28765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[1]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05025" y="28765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"Road accident prediction and model interpretation using a hybrid k-means and random forest algorithm approach,"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SN Applied Sciences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2, pp. 1–13, 2020.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143000" y="40195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438275" y="41719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[2]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05025" y="41719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"Estimation of road accident risk with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Ph.D. dissertation, Concordia University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2020.</a:t>
            </a:r>
            <a:endParaRPr lang="en-US" sz="2625" dirty="0"/>
          </a:p>
        </p:txBody>
      </p:sp>
      <p:sp>
        <p:nvSpPr>
          <p:cNvPr id="12" name="Shape 9"/>
          <p:cNvSpPr/>
          <p:nvPr/>
        </p:nvSpPr>
        <p:spPr>
          <a:xfrm>
            <a:off x="1143000" y="53149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438275" y="54673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[3]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05025" y="54673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Machine Learning Approach for Classifying Road Accident Hotspots,"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ISPRS International Journal of Geo-Information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12, no. 6, art. 227, 2023.</a:t>
            </a:r>
            <a:endParaRPr lang="en-US" sz="2625" dirty="0"/>
          </a:p>
        </p:txBody>
      </p:sp>
      <p:sp>
        <p:nvSpPr>
          <p:cNvPr id="15" name="Shape 12"/>
          <p:cNvSpPr/>
          <p:nvPr/>
        </p:nvSpPr>
        <p:spPr>
          <a:xfrm>
            <a:off x="1143000" y="66103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438275" y="67627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[4]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105025" y="67627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"Predicting errors in accident hotspots and investigating spatiotemporal, weather, and behavioral factors using interpretable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2025.</a:t>
            </a:r>
            <a:endParaRPr lang="en-US" sz="2625" dirty="0"/>
          </a:p>
        </p:txBody>
      </p:sp>
      <p:sp>
        <p:nvSpPr>
          <p:cNvPr id="18" name="Shape 15"/>
          <p:cNvSpPr/>
          <p:nvPr/>
        </p:nvSpPr>
        <p:spPr>
          <a:xfrm>
            <a:off x="1143000" y="79057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438275" y="80581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[5]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105025" y="80581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study on road accident prediction and contributing factors using explainable machine learning models,"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ScienceDirect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2023.</a:t>
            </a:r>
            <a:endParaRPr lang="en-US" sz="2625" dirty="0"/>
          </a:p>
        </p:txBody>
      </p:sp>
      <p:sp>
        <p:nvSpPr>
          <p:cNvPr id="21" name="Text 1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4399" y="3057525"/>
            <a:ext cx="5221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REVIEW —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115572" y="3619500"/>
            <a:ext cx="805670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0" b="1" kern="0" spc="-1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7" name="Text 4"/>
          <p:cNvSpPr/>
          <p:nvPr/>
        </p:nvSpPr>
        <p:spPr>
          <a:xfrm>
            <a:off x="6441958" y="5181600"/>
            <a:ext cx="540393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1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&amp; Discussion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8572500" y="60579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945359" y="6505575"/>
            <a:ext cx="103972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 · Anurag University, Hyderabad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448115" y="6934200"/>
            <a:ext cx="93917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 Detection and Real-Time Alert System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1746</Words>
  <Application>Microsoft Office PowerPoint</Application>
  <PresentationFormat>Custom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shanmukh chowdary</cp:lastModifiedBy>
  <cp:revision>11</cp:revision>
  <dcterms:created xsi:type="dcterms:W3CDTF">2026-06-28T12:25:34Z</dcterms:created>
  <dcterms:modified xsi:type="dcterms:W3CDTF">2026-07-14T04:16:11Z</dcterms:modified>
</cp:coreProperties>
</file>