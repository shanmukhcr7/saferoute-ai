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5" d="100"/>
          <a:sy n="55" d="100"/>
        </p:scale>
        <p:origin x="2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77365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project: facial age and gender estimation using a lightweight deep learning model. Review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ten sections of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face carries age and gender cues; CNNs can learn them. Our system predicts age and gender from a single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core challenges: exact age is hard, image variation, heavy models, and dataset imbalance.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goal precisely, then show the input-to-output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Survey of prior work, their limitations, and how we improve on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open gaps in the literature and our single approach that addresses all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concrete project objectives from data preparation through evaluation and ablation.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pipeline from image upload to displayed prediction, plus the datasets and tools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contributions — efficiency, fairness, robustness — and the novelty 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Comparison plan across two datasets; numbers to be filled after Review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ownership and the week-by-week work plan, with joint integration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references in IEEE 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-8483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77000" y="1541859"/>
            <a:ext cx="438150" cy="47625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4" name="Text 1"/>
          <p:cNvSpPr/>
          <p:nvPr/>
        </p:nvSpPr>
        <p:spPr>
          <a:xfrm>
            <a:off x="6880860" y="1418034"/>
            <a:ext cx="45262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025" b="1" kern="0" spc="450" dirty="0" smtClean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MINI PROJECT </a:t>
            </a:r>
            <a:r>
              <a:rPr lang="en-US" sz="2025" b="1" kern="0" spc="450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REVIEW — 1</a:t>
            </a:r>
            <a:endParaRPr lang="en-US" sz="2025" dirty="0"/>
          </a:p>
        </p:txBody>
      </p:sp>
      <p:sp>
        <p:nvSpPr>
          <p:cNvPr id="5" name="Shape 2"/>
          <p:cNvSpPr/>
          <p:nvPr/>
        </p:nvSpPr>
        <p:spPr>
          <a:xfrm>
            <a:off x="11372850" y="1541859"/>
            <a:ext cx="438150" cy="47625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6" name="Text 3"/>
          <p:cNvSpPr/>
          <p:nvPr/>
        </p:nvSpPr>
        <p:spPr>
          <a:xfrm>
            <a:off x="2062356" y="2037159"/>
            <a:ext cx="14163288" cy="840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5850" b="1" kern="0" spc="-75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AI-Driven Road Accident Risk Zone</a:t>
            </a:r>
            <a:endParaRPr lang="en-US" sz="5850" dirty="0"/>
          </a:p>
        </p:txBody>
      </p:sp>
      <p:sp>
        <p:nvSpPr>
          <p:cNvPr id="7" name="Text 4"/>
          <p:cNvSpPr/>
          <p:nvPr/>
        </p:nvSpPr>
        <p:spPr>
          <a:xfrm>
            <a:off x="4633280" y="2972842"/>
            <a:ext cx="9021291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37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Detection and Real-Time Alert System</a:t>
            </a:r>
            <a:endParaRPr lang="en-US" sz="3750" dirty="0"/>
          </a:p>
        </p:txBody>
      </p:sp>
      <p:sp>
        <p:nvSpPr>
          <p:cNvPr id="8" name="Shape 5"/>
          <p:cNvSpPr/>
          <p:nvPr/>
        </p:nvSpPr>
        <p:spPr>
          <a:xfrm>
            <a:off x="5800279" y="3763417"/>
            <a:ext cx="6687443" cy="600075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/>
        </p:spPr>
        <p:txBody>
          <a:bodyPr wrap="square">
            <a:normAutofit/>
          </a:bodyPr>
          <a:p/>
        </p:txBody>
      </p:sp>
      <p:sp>
        <p:nvSpPr>
          <p:cNvPr id="9" name="Text 6"/>
          <p:cNvSpPr/>
          <p:nvPr/>
        </p:nvSpPr>
        <p:spPr>
          <a:xfrm>
            <a:off x="6004767" y="3877717"/>
            <a:ext cx="6278466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475" b="1" kern="0" spc="22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Department of Artificial Intelligence</a:t>
            </a:r>
            <a:endParaRPr lang="en-US" sz="2475" dirty="0"/>
          </a:p>
        </p:txBody>
      </p:sp>
      <p:sp>
        <p:nvSpPr>
          <p:cNvPr id="10" name="Shape 7"/>
          <p:cNvSpPr/>
          <p:nvPr/>
        </p:nvSpPr>
        <p:spPr>
          <a:xfrm>
            <a:off x="4191000" y="4858792"/>
            <a:ext cx="4810125" cy="1104900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71450" dist="5715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1" name="Text 8"/>
          <p:cNvSpPr/>
          <p:nvPr/>
        </p:nvSpPr>
        <p:spPr>
          <a:xfrm>
            <a:off x="4448175" y="5077867"/>
            <a:ext cx="2202507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Navadeep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6574482" y="5135017"/>
            <a:ext cx="2169468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Roll No: XXXXXXXX</a:t>
            </a:r>
            <a:endParaRPr lang="en-US" sz="1875" dirty="0"/>
          </a:p>
        </p:txBody>
      </p:sp>
      <p:sp>
        <p:nvSpPr>
          <p:cNvPr id="13" name="Shape 10"/>
          <p:cNvSpPr/>
          <p:nvPr/>
        </p:nvSpPr>
        <p:spPr>
          <a:xfrm>
            <a:off x="9286875" y="4858792"/>
            <a:ext cx="4810125" cy="1104900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71450" dist="5715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4" name="Text 11"/>
          <p:cNvSpPr/>
          <p:nvPr/>
        </p:nvSpPr>
        <p:spPr>
          <a:xfrm>
            <a:off x="9544050" y="5077867"/>
            <a:ext cx="2202507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Team Member 2</a:t>
            </a:r>
            <a:endParaRPr lang="en-US" sz="2250" dirty="0"/>
          </a:p>
        </p:txBody>
      </p:sp>
      <p:sp>
        <p:nvSpPr>
          <p:cNvPr id="15" name="Text 12"/>
          <p:cNvSpPr/>
          <p:nvPr/>
        </p:nvSpPr>
        <p:spPr>
          <a:xfrm>
            <a:off x="11670357" y="5135017"/>
            <a:ext cx="2169468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Roll No: XXXXXXXX</a:t>
            </a:r>
            <a:endParaRPr lang="en-US" sz="1875" dirty="0"/>
          </a:p>
        </p:txBody>
      </p:sp>
      <p:sp>
        <p:nvSpPr>
          <p:cNvPr id="16" name="Shape 13"/>
          <p:cNvSpPr/>
          <p:nvPr/>
        </p:nvSpPr>
        <p:spPr>
          <a:xfrm>
            <a:off x="4191000" y="6173242"/>
            <a:ext cx="4810125" cy="1104900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71450" dist="5715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7" name="Text 14"/>
          <p:cNvSpPr/>
          <p:nvPr/>
        </p:nvSpPr>
        <p:spPr>
          <a:xfrm>
            <a:off x="4448175" y="6392317"/>
            <a:ext cx="2202507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Team Member 3</a:t>
            </a:r>
            <a:endParaRPr lang="en-US" sz="2250" dirty="0"/>
          </a:p>
        </p:txBody>
      </p:sp>
      <p:sp>
        <p:nvSpPr>
          <p:cNvPr id="18" name="Text 15"/>
          <p:cNvSpPr/>
          <p:nvPr/>
        </p:nvSpPr>
        <p:spPr>
          <a:xfrm>
            <a:off x="6574482" y="6449467"/>
            <a:ext cx="2169468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Roll No: XXXXXXXX</a:t>
            </a:r>
            <a:endParaRPr lang="en-US" sz="1875" dirty="0"/>
          </a:p>
        </p:txBody>
      </p:sp>
      <p:sp>
        <p:nvSpPr>
          <p:cNvPr id="19" name="Shape 16"/>
          <p:cNvSpPr/>
          <p:nvPr/>
        </p:nvSpPr>
        <p:spPr>
          <a:xfrm>
            <a:off x="9286875" y="6173242"/>
            <a:ext cx="4810125" cy="1104900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71450" dist="5715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20" name="Text 17"/>
          <p:cNvSpPr/>
          <p:nvPr/>
        </p:nvSpPr>
        <p:spPr>
          <a:xfrm>
            <a:off x="9544050" y="6392317"/>
            <a:ext cx="2202507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Team Member 4</a:t>
            </a:r>
            <a:endParaRPr lang="en-US" sz="2250" dirty="0"/>
          </a:p>
        </p:txBody>
      </p:sp>
      <p:sp>
        <p:nvSpPr>
          <p:cNvPr id="21" name="Text 18"/>
          <p:cNvSpPr/>
          <p:nvPr/>
        </p:nvSpPr>
        <p:spPr>
          <a:xfrm>
            <a:off x="11670357" y="6449467"/>
            <a:ext cx="2169468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Roll No: XXXXXXXX</a:t>
            </a:r>
            <a:endParaRPr lang="en-US" sz="1875" dirty="0"/>
          </a:p>
        </p:txBody>
      </p:sp>
      <p:sp>
        <p:nvSpPr>
          <p:cNvPr id="22" name="Text 19"/>
          <p:cNvSpPr/>
          <p:nvPr/>
        </p:nvSpPr>
        <p:spPr>
          <a:xfrm>
            <a:off x="6553937" y="7678192"/>
            <a:ext cx="517997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25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Guide: </a:t>
            </a:r>
            <a:r>
              <a:rPr lang="en-US" sz="22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Dr./Mr./Ms. Guide Name</a:t>
            </a:r>
            <a:endParaRPr lang="en-US" sz="2250" dirty="0"/>
          </a:p>
        </p:txBody>
      </p:sp>
      <p:sp>
        <p:nvSpPr>
          <p:cNvPr id="23" name="Text 20"/>
          <p:cNvSpPr/>
          <p:nvPr/>
        </p:nvSpPr>
        <p:spPr>
          <a:xfrm>
            <a:off x="6024652" y="8078242"/>
            <a:ext cx="623869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75" dirty="0" smtClean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Designation</a:t>
            </a:r>
            <a:endParaRPr lang="en-US" sz="1875" dirty="0"/>
          </a:p>
        </p:txBody>
      </p:sp>
      <p:sp>
        <p:nvSpPr>
          <p:cNvPr id="24" name="Shape 21"/>
          <p:cNvSpPr/>
          <p:nvPr/>
        </p:nvSpPr>
        <p:spPr>
          <a:xfrm>
            <a:off x="5895380" y="8630692"/>
            <a:ext cx="3767584" cy="514350"/>
          </a:xfrm>
          <a:prstGeom prst="roundRect">
            <a:avLst>
              <a:gd name="adj" fmla="val 50000"/>
            </a:avLst>
          </a:prstGeom>
          <a:solidFill>
            <a:srgbClr val="1E2A55"/>
          </a:solidFill>
          <a:ln/>
        </p:spPr>
        <p:txBody>
          <a:bodyPr wrap="square">
            <a:normAutofit/>
          </a:bodyPr>
          <a:p/>
        </p:txBody>
      </p:sp>
      <p:sp>
        <p:nvSpPr>
          <p:cNvPr id="25" name="Text 22"/>
          <p:cNvSpPr/>
          <p:nvPr/>
        </p:nvSpPr>
        <p:spPr>
          <a:xfrm>
            <a:off x="6124616" y="8744992"/>
            <a:ext cx="330911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950" b="1" kern="0" spc="38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Academic Year 2026–27</a:t>
            </a:r>
            <a:endParaRPr lang="en-US" sz="1950" dirty="0"/>
          </a:p>
        </p:txBody>
      </p:sp>
      <p:sp>
        <p:nvSpPr>
          <p:cNvPr id="26" name="Shape 23"/>
          <p:cNvSpPr/>
          <p:nvPr/>
        </p:nvSpPr>
        <p:spPr>
          <a:xfrm>
            <a:off x="9872514" y="8621167"/>
            <a:ext cx="2520107" cy="533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7" name="Text 24"/>
          <p:cNvSpPr/>
          <p:nvPr/>
        </p:nvSpPr>
        <p:spPr>
          <a:xfrm>
            <a:off x="10129689" y="8744992"/>
            <a:ext cx="200575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950" b="1" kern="0" spc="38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July 2026</a:t>
            </a:r>
            <a:endParaRPr lang="en-US" sz="1950" dirty="0"/>
          </a:p>
        </p:txBody>
      </p:sp>
      <p:sp>
        <p:nvSpPr>
          <p:cNvPr id="28" name="Text 25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 / </a:t>
            </a:r>
            <a:r>
              <a:rPr lang="en-US" sz="1800" kern="0" spc="75" dirty="0" smtClean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108156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4" name="Text 1"/>
          <p:cNvSpPr/>
          <p:nvPr/>
        </p:nvSpPr>
        <p:spPr>
          <a:xfrm>
            <a:off x="8644652" y="1333500"/>
            <a:ext cx="160829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OUTLINE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7931564" y="1752600"/>
            <a:ext cx="2424723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2971800"/>
            <a:ext cx="7791450" cy="1131540"/>
          </a:xfrm>
          <a:prstGeom prst="roundRect">
            <a:avLst>
              <a:gd name="adj" fmla="val 13468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7" name="Shape 4"/>
          <p:cNvSpPr/>
          <p:nvPr/>
        </p:nvSpPr>
        <p:spPr>
          <a:xfrm>
            <a:off x="1447800" y="3280321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8" name="Text 5"/>
          <p:cNvSpPr/>
          <p:nvPr/>
        </p:nvSpPr>
        <p:spPr>
          <a:xfrm>
            <a:off x="1409700" y="3280321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1875" dirty="0"/>
          </a:p>
        </p:txBody>
      </p:sp>
      <p:sp>
        <p:nvSpPr>
          <p:cNvPr id="9" name="Text 6"/>
          <p:cNvSpPr/>
          <p:nvPr/>
        </p:nvSpPr>
        <p:spPr>
          <a:xfrm>
            <a:off x="2190750" y="3361283"/>
            <a:ext cx="2219757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9353550" y="2971800"/>
            <a:ext cx="7791450" cy="1131540"/>
          </a:xfrm>
          <a:prstGeom prst="roundRect">
            <a:avLst>
              <a:gd name="adj" fmla="val 13468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1" name="Shape 8"/>
          <p:cNvSpPr/>
          <p:nvPr/>
        </p:nvSpPr>
        <p:spPr>
          <a:xfrm>
            <a:off x="9658350" y="3280321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12" name="Text 9"/>
          <p:cNvSpPr/>
          <p:nvPr/>
        </p:nvSpPr>
        <p:spPr>
          <a:xfrm>
            <a:off x="9620250" y="3280321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1875" dirty="0"/>
          </a:p>
        </p:txBody>
      </p:sp>
      <p:sp>
        <p:nvSpPr>
          <p:cNvPr id="13" name="Text 10"/>
          <p:cNvSpPr/>
          <p:nvPr/>
        </p:nvSpPr>
        <p:spPr>
          <a:xfrm>
            <a:off x="10401300" y="3361283"/>
            <a:ext cx="33731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1143000" y="4331940"/>
            <a:ext cx="7791450" cy="1131540"/>
          </a:xfrm>
          <a:prstGeom prst="roundRect">
            <a:avLst>
              <a:gd name="adj" fmla="val 13468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5" name="Shape 12"/>
          <p:cNvSpPr/>
          <p:nvPr/>
        </p:nvSpPr>
        <p:spPr>
          <a:xfrm>
            <a:off x="1447800" y="4640461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16" name="Text 13"/>
          <p:cNvSpPr/>
          <p:nvPr/>
        </p:nvSpPr>
        <p:spPr>
          <a:xfrm>
            <a:off x="1409700" y="4640461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1875" dirty="0"/>
          </a:p>
        </p:txBody>
      </p:sp>
      <p:sp>
        <p:nvSpPr>
          <p:cNvPr id="17" name="Text 14"/>
          <p:cNvSpPr/>
          <p:nvPr/>
        </p:nvSpPr>
        <p:spPr>
          <a:xfrm>
            <a:off x="2190750" y="4721423"/>
            <a:ext cx="3071381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Literature Survey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9353550" y="4331940"/>
            <a:ext cx="7791450" cy="1131540"/>
          </a:xfrm>
          <a:prstGeom prst="roundRect">
            <a:avLst>
              <a:gd name="adj" fmla="val 13468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9" name="Shape 16"/>
          <p:cNvSpPr/>
          <p:nvPr/>
        </p:nvSpPr>
        <p:spPr>
          <a:xfrm>
            <a:off x="9658350" y="4640461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20" name="Text 17"/>
          <p:cNvSpPr/>
          <p:nvPr/>
        </p:nvSpPr>
        <p:spPr>
          <a:xfrm>
            <a:off x="9620250" y="4640461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04</a:t>
            </a:r>
            <a:endParaRPr lang="en-US" sz="1875" dirty="0"/>
          </a:p>
        </p:txBody>
      </p:sp>
      <p:sp>
        <p:nvSpPr>
          <p:cNvPr id="21" name="Text 18"/>
          <p:cNvSpPr/>
          <p:nvPr/>
        </p:nvSpPr>
        <p:spPr>
          <a:xfrm>
            <a:off x="10401300" y="4721423"/>
            <a:ext cx="2554873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Research Gaps</a:t>
            </a:r>
            <a:endParaRPr lang="en-US" sz="2400" dirty="0"/>
          </a:p>
        </p:txBody>
      </p:sp>
      <p:sp>
        <p:nvSpPr>
          <p:cNvPr id="22" name="Shape 19"/>
          <p:cNvSpPr/>
          <p:nvPr/>
        </p:nvSpPr>
        <p:spPr>
          <a:xfrm>
            <a:off x="1143000" y="5692080"/>
            <a:ext cx="7791450" cy="1131540"/>
          </a:xfrm>
          <a:prstGeom prst="roundRect">
            <a:avLst>
              <a:gd name="adj" fmla="val 13468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23" name="Shape 20"/>
          <p:cNvSpPr/>
          <p:nvPr/>
        </p:nvSpPr>
        <p:spPr>
          <a:xfrm>
            <a:off x="1447800" y="6000601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24" name="Text 21"/>
          <p:cNvSpPr/>
          <p:nvPr/>
        </p:nvSpPr>
        <p:spPr>
          <a:xfrm>
            <a:off x="1409700" y="6000601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05</a:t>
            </a:r>
            <a:endParaRPr lang="en-US" sz="1875" dirty="0"/>
          </a:p>
        </p:txBody>
      </p:sp>
      <p:sp>
        <p:nvSpPr>
          <p:cNvPr id="25" name="Text 22"/>
          <p:cNvSpPr/>
          <p:nvPr/>
        </p:nvSpPr>
        <p:spPr>
          <a:xfrm>
            <a:off x="2190750" y="6081564"/>
            <a:ext cx="1817191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Objectives</a:t>
            </a:r>
            <a:endParaRPr lang="en-US" sz="2400" dirty="0"/>
          </a:p>
        </p:txBody>
      </p:sp>
      <p:sp>
        <p:nvSpPr>
          <p:cNvPr id="26" name="Shape 23"/>
          <p:cNvSpPr/>
          <p:nvPr/>
        </p:nvSpPr>
        <p:spPr>
          <a:xfrm>
            <a:off x="9353550" y="5692080"/>
            <a:ext cx="7791450" cy="1131540"/>
          </a:xfrm>
          <a:prstGeom prst="roundRect">
            <a:avLst>
              <a:gd name="adj" fmla="val 13468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27" name="Shape 24"/>
          <p:cNvSpPr/>
          <p:nvPr/>
        </p:nvSpPr>
        <p:spPr>
          <a:xfrm>
            <a:off x="9658350" y="6000601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28" name="Text 25"/>
          <p:cNvSpPr/>
          <p:nvPr/>
        </p:nvSpPr>
        <p:spPr>
          <a:xfrm>
            <a:off x="9620250" y="6000601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06</a:t>
            </a:r>
            <a:endParaRPr lang="en-US" sz="1875" dirty="0"/>
          </a:p>
        </p:txBody>
      </p:sp>
      <p:sp>
        <p:nvSpPr>
          <p:cNvPr id="29" name="Text 26"/>
          <p:cNvSpPr/>
          <p:nvPr/>
        </p:nvSpPr>
        <p:spPr>
          <a:xfrm>
            <a:off x="10401300" y="6081564"/>
            <a:ext cx="3950018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Proposed Methodology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1143000" y="7052221"/>
            <a:ext cx="7791450" cy="1131540"/>
          </a:xfrm>
          <a:prstGeom prst="roundRect">
            <a:avLst>
              <a:gd name="adj" fmla="val 13468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31" name="Shape 28"/>
          <p:cNvSpPr/>
          <p:nvPr/>
        </p:nvSpPr>
        <p:spPr>
          <a:xfrm>
            <a:off x="1447800" y="7360741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32" name="Text 29"/>
          <p:cNvSpPr/>
          <p:nvPr/>
        </p:nvSpPr>
        <p:spPr>
          <a:xfrm>
            <a:off x="1409700" y="7360741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07</a:t>
            </a:r>
            <a:endParaRPr lang="en-US" sz="1875" dirty="0"/>
          </a:p>
        </p:txBody>
      </p:sp>
      <p:sp>
        <p:nvSpPr>
          <p:cNvPr id="33" name="Text 30"/>
          <p:cNvSpPr/>
          <p:nvPr/>
        </p:nvSpPr>
        <p:spPr>
          <a:xfrm>
            <a:off x="2190750" y="7441704"/>
            <a:ext cx="3004096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Our Contribution</a:t>
            </a:r>
            <a:endParaRPr lang="en-US" sz="2400" dirty="0"/>
          </a:p>
        </p:txBody>
      </p:sp>
      <p:sp>
        <p:nvSpPr>
          <p:cNvPr id="34" name="Shape 31"/>
          <p:cNvSpPr/>
          <p:nvPr/>
        </p:nvSpPr>
        <p:spPr>
          <a:xfrm>
            <a:off x="9353550" y="7052221"/>
            <a:ext cx="7791450" cy="1131540"/>
          </a:xfrm>
          <a:prstGeom prst="roundRect">
            <a:avLst>
              <a:gd name="adj" fmla="val 13468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35" name="Shape 32"/>
          <p:cNvSpPr/>
          <p:nvPr/>
        </p:nvSpPr>
        <p:spPr>
          <a:xfrm>
            <a:off x="9658350" y="7360741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36" name="Text 33"/>
          <p:cNvSpPr/>
          <p:nvPr/>
        </p:nvSpPr>
        <p:spPr>
          <a:xfrm>
            <a:off x="9620250" y="7360741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08</a:t>
            </a:r>
            <a:endParaRPr lang="en-US" sz="1875" dirty="0"/>
          </a:p>
        </p:txBody>
      </p:sp>
      <p:sp>
        <p:nvSpPr>
          <p:cNvPr id="37" name="Text 34"/>
          <p:cNvSpPr/>
          <p:nvPr/>
        </p:nvSpPr>
        <p:spPr>
          <a:xfrm>
            <a:off x="10401300" y="7441704"/>
            <a:ext cx="3594437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Planned Comparison</a:t>
            </a:r>
            <a:endParaRPr lang="en-US" sz="2400" dirty="0"/>
          </a:p>
        </p:txBody>
      </p:sp>
      <p:sp>
        <p:nvSpPr>
          <p:cNvPr id="38" name="Shape 35"/>
          <p:cNvSpPr/>
          <p:nvPr/>
        </p:nvSpPr>
        <p:spPr>
          <a:xfrm>
            <a:off x="1143000" y="8412361"/>
            <a:ext cx="7791450" cy="1131689"/>
          </a:xfrm>
          <a:prstGeom prst="roundRect">
            <a:avLst>
              <a:gd name="adj" fmla="val 13467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39" name="Shape 36"/>
          <p:cNvSpPr/>
          <p:nvPr/>
        </p:nvSpPr>
        <p:spPr>
          <a:xfrm>
            <a:off x="1447800" y="8721030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40" name="Text 37"/>
          <p:cNvSpPr/>
          <p:nvPr/>
        </p:nvSpPr>
        <p:spPr>
          <a:xfrm>
            <a:off x="1409700" y="8721030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09</a:t>
            </a:r>
            <a:endParaRPr lang="en-US" sz="1875" dirty="0"/>
          </a:p>
        </p:txBody>
      </p:sp>
      <p:sp>
        <p:nvSpPr>
          <p:cNvPr id="41" name="Text 38"/>
          <p:cNvSpPr/>
          <p:nvPr/>
        </p:nvSpPr>
        <p:spPr>
          <a:xfrm>
            <a:off x="2190750" y="8801993"/>
            <a:ext cx="4291519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Team Roles &amp; Work Plan</a:t>
            </a:r>
            <a:endParaRPr lang="en-US" sz="2400" dirty="0"/>
          </a:p>
        </p:txBody>
      </p:sp>
      <p:sp>
        <p:nvSpPr>
          <p:cNvPr id="42" name="Shape 39"/>
          <p:cNvSpPr/>
          <p:nvPr/>
        </p:nvSpPr>
        <p:spPr>
          <a:xfrm>
            <a:off x="9353550" y="8412361"/>
            <a:ext cx="7791450" cy="1131689"/>
          </a:xfrm>
          <a:prstGeom prst="roundRect">
            <a:avLst>
              <a:gd name="adj" fmla="val 13467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43" name="Shape 40"/>
          <p:cNvSpPr/>
          <p:nvPr/>
        </p:nvSpPr>
        <p:spPr>
          <a:xfrm>
            <a:off x="9658350" y="8721030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44" name="Text 41"/>
          <p:cNvSpPr/>
          <p:nvPr/>
        </p:nvSpPr>
        <p:spPr>
          <a:xfrm>
            <a:off x="9620250" y="8721030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10</a:t>
            </a:r>
            <a:endParaRPr lang="en-US" sz="1875" dirty="0"/>
          </a:p>
        </p:txBody>
      </p:sp>
      <p:sp>
        <p:nvSpPr>
          <p:cNvPr id="45" name="Text 42"/>
          <p:cNvSpPr/>
          <p:nvPr/>
        </p:nvSpPr>
        <p:spPr>
          <a:xfrm>
            <a:off x="10401300" y="8801993"/>
            <a:ext cx="191787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References</a:t>
            </a:r>
            <a:endParaRPr lang="en-US" sz="2400" dirty="0"/>
          </a:p>
        </p:txBody>
      </p:sp>
      <p:sp>
        <p:nvSpPr>
          <p:cNvPr id="46" name="Text 43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 / </a:t>
            </a:r>
            <a:r>
              <a:rPr lang="en-US" sz="1800" kern="0" spc="75" dirty="0" smtClean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957989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4" name="Text 1"/>
          <p:cNvSpPr/>
          <p:nvPr/>
        </p:nvSpPr>
        <p:spPr>
          <a:xfrm>
            <a:off x="8479475" y="1333500"/>
            <a:ext cx="193850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OVERVIEW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7024933" y="1752600"/>
            <a:ext cx="4237985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Introduction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3171825"/>
            <a:ext cx="133350" cy="133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7" name="Text 4"/>
          <p:cNvSpPr/>
          <p:nvPr/>
        </p:nvSpPr>
        <p:spPr>
          <a:xfrm>
            <a:off x="1485900" y="3048000"/>
            <a:ext cx="9359456" cy="10060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Road accidents remain one of the leading causes of preventable death worldwide — most crashes cluster around specific </a:t>
            </a:r>
            <a:r>
              <a:rPr lang="en-US" sz="27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high-risk </a:t>
            </a: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locations and </a:t>
            </a:r>
            <a:r>
              <a:rPr lang="en-US" sz="27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conditions</a:t>
            </a: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.</a:t>
            </a:r>
            <a:endParaRPr lang="en-US" sz="2775" dirty="0"/>
          </a:p>
        </p:txBody>
      </p:sp>
      <p:sp>
        <p:nvSpPr>
          <p:cNvPr id="8" name="Shape 5"/>
          <p:cNvSpPr/>
          <p:nvPr/>
        </p:nvSpPr>
        <p:spPr>
          <a:xfrm>
            <a:off x="1143000" y="4387453"/>
            <a:ext cx="133350" cy="133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9" name="Text 6"/>
          <p:cNvSpPr/>
          <p:nvPr/>
        </p:nvSpPr>
        <p:spPr>
          <a:xfrm>
            <a:off x="1485900" y="4263628"/>
            <a:ext cx="9359456" cy="1475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Useful for driver safety alerts, traffic-police deployment, urban planning, and insurance risk assessment.</a:t>
            </a:r>
            <a:endParaRPr lang="en-US" sz="2775" dirty="0"/>
          </a:p>
        </p:txBody>
      </p:sp>
      <p:sp>
        <p:nvSpPr>
          <p:cNvPr id="10" name="Shape 7"/>
          <p:cNvSpPr/>
          <p:nvPr/>
        </p:nvSpPr>
        <p:spPr>
          <a:xfrm>
            <a:off x="1143000" y="6072783"/>
            <a:ext cx="133350" cy="133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11" name="Text 8"/>
          <p:cNvSpPr/>
          <p:nvPr/>
        </p:nvSpPr>
        <p:spPr>
          <a:xfrm>
            <a:off x="1485900" y="5948958"/>
            <a:ext cx="9359456" cy="9965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Manual black-spot marking is slow, static, and cannot adapt to changing traffic or weather conditions.</a:t>
            </a:r>
            <a:endParaRPr lang="en-US" sz="2775" dirty="0"/>
          </a:p>
        </p:txBody>
      </p:sp>
      <p:sp>
        <p:nvSpPr>
          <p:cNvPr id="12" name="Shape 9"/>
          <p:cNvSpPr/>
          <p:nvPr/>
        </p:nvSpPr>
        <p:spPr>
          <a:xfrm>
            <a:off x="1143000" y="7278886"/>
            <a:ext cx="133350" cy="133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13" name="Text 10"/>
          <p:cNvSpPr/>
          <p:nvPr/>
        </p:nvSpPr>
        <p:spPr>
          <a:xfrm>
            <a:off x="1485900" y="7155061"/>
            <a:ext cx="9359456" cy="9965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ML models can learn accident-prone spatio-temporal patterns directly from historical and live data with high accuracy.</a:t>
            </a:r>
            <a:endParaRPr lang="en-US" sz="2775" dirty="0"/>
          </a:p>
        </p:txBody>
      </p:sp>
      <p:sp>
        <p:nvSpPr>
          <p:cNvPr id="14" name="Shape 11"/>
          <p:cNvSpPr/>
          <p:nvPr/>
        </p:nvSpPr>
        <p:spPr>
          <a:xfrm>
            <a:off x="11049000" y="2971800"/>
            <a:ext cx="6096000" cy="1152525"/>
          </a:xfrm>
          <a:prstGeom prst="roundRect">
            <a:avLst>
              <a:gd name="adj" fmla="val 14876"/>
            </a:avLst>
          </a:prstGeom>
          <a:solidFill>
            <a:srgbClr val="FFFFFF"/>
          </a:solidFill>
          <a:ln w="19050">
            <a:solidFill>
              <a:srgbClr val="1E2A55"/>
            </a:solidFill>
            <a:prstDash val="solid"/>
          </a:ln>
          <a:effectLst>
            <a:outerShdw blurRad="209550" dist="76200" dir="5400000" algn="bl" rotWithShape="0">
              <a:srgbClr val="141E3C">
                <a:alpha val="8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5" name="Text 12"/>
          <p:cNvSpPr/>
          <p:nvPr/>
        </p:nvSpPr>
        <p:spPr>
          <a:xfrm>
            <a:off x="13063686" y="3238500"/>
            <a:ext cx="227329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Accident &amp; Traffic Data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13063686" y="3590925"/>
            <a:ext cx="22732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Historical records + live feeds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3977938" y="4295775"/>
            <a:ext cx="31432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0000"/>
              </a:lnSpc>
              <a:buNone/>
            </a:pPr>
            <a:r>
              <a:rPr lang="en-US" sz="3750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↓</a:t>
            </a:r>
            <a:endParaRPr lang="en-US" sz="3750" dirty="0"/>
          </a:p>
        </p:txBody>
      </p:sp>
      <p:sp>
        <p:nvSpPr>
          <p:cNvPr id="18" name="Shape 15"/>
          <p:cNvSpPr/>
          <p:nvPr/>
        </p:nvSpPr>
        <p:spPr>
          <a:xfrm>
            <a:off x="11049000" y="4800600"/>
            <a:ext cx="6096000" cy="1152525"/>
          </a:xfrm>
          <a:prstGeom prst="roundRect">
            <a:avLst>
              <a:gd name="adj" fmla="val 14876"/>
            </a:avLst>
          </a:prstGeom>
          <a:solidFill>
            <a:srgbClr val="FFFFFF"/>
          </a:solidFill>
          <a:ln w="19050">
            <a:solidFill>
              <a:srgbClr val="1E2A55"/>
            </a:solidFill>
            <a:prstDash val="solid"/>
          </a:ln>
          <a:effectLst>
            <a:outerShdw blurRad="209550" dist="76200" dir="5400000" algn="bl" rotWithShape="0">
              <a:srgbClr val="141E3C">
                <a:alpha val="8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9" name="Text 16"/>
          <p:cNvSpPr/>
          <p:nvPr/>
        </p:nvSpPr>
        <p:spPr>
          <a:xfrm>
            <a:off x="12585948" y="5067300"/>
            <a:ext cx="3324151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Machine Learning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12585948" y="5419725"/>
            <a:ext cx="332415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Clustering + risk classification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3977938" y="6124575"/>
            <a:ext cx="31432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0000"/>
              </a:lnSpc>
              <a:buNone/>
            </a:pPr>
            <a:r>
              <a:rPr lang="en-US" sz="3750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↓</a:t>
            </a:r>
            <a:endParaRPr lang="en-US" sz="3750" dirty="0"/>
          </a:p>
        </p:txBody>
      </p:sp>
      <p:sp>
        <p:nvSpPr>
          <p:cNvPr id="22" name="Shape 19"/>
          <p:cNvSpPr/>
          <p:nvPr/>
        </p:nvSpPr>
        <p:spPr>
          <a:xfrm>
            <a:off x="11049000" y="6629400"/>
            <a:ext cx="6096000" cy="1171575"/>
          </a:xfrm>
          <a:prstGeom prst="roundRect">
            <a:avLst>
              <a:gd name="adj" fmla="val 14634"/>
            </a:avLst>
          </a:prstGeom>
          <a:solidFill>
            <a:srgbClr val="1E2A55"/>
          </a:solidFill>
          <a:ln/>
          <a:effectLst>
            <a:outerShdw blurRad="247650" dist="114300" dir="5400000" algn="bl" rotWithShape="0">
              <a:srgbClr val="141E3C">
                <a:alpha val="22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23" name="Text 20"/>
          <p:cNvSpPr/>
          <p:nvPr/>
        </p:nvSpPr>
        <p:spPr>
          <a:xfrm>
            <a:off x="12851160" y="6896100"/>
            <a:ext cx="274068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Risk Zone + Alert</a:t>
            </a:r>
            <a:endParaRPr lang="en-US" sz="2475" dirty="0"/>
          </a:p>
        </p:txBody>
      </p:sp>
      <p:sp>
        <p:nvSpPr>
          <p:cNvPr id="24" name="Text 21"/>
          <p:cNvSpPr/>
          <p:nvPr/>
        </p:nvSpPr>
        <p:spPr>
          <a:xfrm>
            <a:off x="12851160" y="7267575"/>
            <a:ext cx="274068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9D2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Zone map &amp; live notification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1143000" y="7663011"/>
            <a:ext cx="9429750" cy="1919139"/>
          </a:xfrm>
          <a:prstGeom prst="roundRect">
            <a:avLst>
              <a:gd name="adj" fmla="val 6948"/>
            </a:avLst>
          </a:prstGeom>
          <a:solidFill>
            <a:srgbClr val="EEF1F8"/>
          </a:solidFill>
          <a:ln/>
        </p:spPr>
        <p:txBody>
          <a:bodyPr wrap="square">
            <a:normAutofit/>
          </a:bodyPr>
          <a:p/>
        </p:txBody>
      </p:sp>
      <p:sp>
        <p:nvSpPr>
          <p:cNvPr id="26" name="Shape 23"/>
          <p:cNvSpPr/>
          <p:nvPr/>
        </p:nvSpPr>
        <p:spPr>
          <a:xfrm>
            <a:off x="1143000" y="7663011"/>
            <a:ext cx="76200" cy="1919139"/>
          </a:xfrm>
          <a:prstGeom prst="rect">
            <a:avLst/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27" name="Text 24"/>
          <p:cNvSpPr/>
          <p:nvPr/>
        </p:nvSpPr>
        <p:spPr>
          <a:xfrm>
            <a:off x="1524000" y="7910661"/>
            <a:ext cx="9006269" cy="14619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7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Our project </a:t>
            </a: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builds an AI-driven system that detects road accident </a:t>
            </a:r>
            <a:r>
              <a:rPr lang="en-US" sz="27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risk zones </a:t>
            </a: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and </a:t>
            </a:r>
            <a:r>
              <a:rPr lang="en-US" sz="27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issues real-time alerts </a:t>
            </a: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 drivers before they enter danger.</a:t>
            </a:r>
            <a:endParaRPr lang="en-US" sz="2775" dirty="0"/>
          </a:p>
        </p:txBody>
      </p:sp>
      <p:sp>
        <p:nvSpPr>
          <p:cNvPr id="28" name="Text 25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 / </a:t>
            </a:r>
            <a:r>
              <a:rPr lang="en-US" sz="1800" kern="0" spc="75" dirty="0" smtClean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7163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4" name="Text 1"/>
          <p:cNvSpPr/>
          <p:nvPr/>
        </p:nvSpPr>
        <p:spPr>
          <a:xfrm>
            <a:off x="8280559" y="1333500"/>
            <a:ext cx="233648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MOTIVATION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7041795" y="1752600"/>
            <a:ext cx="4204261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Problem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3009900"/>
            <a:ext cx="7829550" cy="312420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20955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7" name="Text 4"/>
          <p:cNvSpPr/>
          <p:nvPr/>
        </p:nvSpPr>
        <p:spPr>
          <a:xfrm>
            <a:off x="1514475" y="3343275"/>
            <a:ext cx="3893537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Reactive Safety Measures</a:t>
            </a:r>
            <a:endParaRPr lang="en-US" sz="2475" dirty="0"/>
          </a:p>
        </p:txBody>
      </p:sp>
      <p:sp>
        <p:nvSpPr>
          <p:cNvPr id="8" name="Text 5"/>
          <p:cNvSpPr/>
          <p:nvPr/>
        </p:nvSpPr>
        <p:spPr>
          <a:xfrm>
            <a:off x="1514475" y="3867150"/>
            <a:ext cx="7299198" cy="96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Black spots are identified only after accidents occur — prevention happens too late.</a:t>
            </a:r>
            <a:endParaRPr lang="en-US" sz="2775" dirty="0"/>
          </a:p>
        </p:txBody>
      </p:sp>
      <p:sp>
        <p:nvSpPr>
          <p:cNvPr id="9" name="Shape 6"/>
          <p:cNvSpPr/>
          <p:nvPr/>
        </p:nvSpPr>
        <p:spPr>
          <a:xfrm>
            <a:off x="9315450" y="3009900"/>
            <a:ext cx="7829550" cy="312420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20955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0" name="Text 7"/>
          <p:cNvSpPr/>
          <p:nvPr/>
        </p:nvSpPr>
        <p:spPr>
          <a:xfrm>
            <a:off x="9686925" y="3343275"/>
            <a:ext cx="304977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Fragmented Data Sources</a:t>
            </a:r>
            <a:endParaRPr lang="en-US" sz="2475" dirty="0"/>
          </a:p>
        </p:txBody>
      </p:sp>
      <p:sp>
        <p:nvSpPr>
          <p:cNvPr id="11" name="Text 8"/>
          <p:cNvSpPr/>
          <p:nvPr/>
        </p:nvSpPr>
        <p:spPr>
          <a:xfrm>
            <a:off x="9686925" y="3867150"/>
            <a:ext cx="7299198" cy="1433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Accident, traffic, weather, and road-condition data are stored in silos, rarely fused for prediction.</a:t>
            </a:r>
            <a:endParaRPr lang="en-US" sz="2775" dirty="0"/>
          </a:p>
        </p:txBody>
      </p:sp>
      <p:sp>
        <p:nvSpPr>
          <p:cNvPr id="12" name="Shape 9"/>
          <p:cNvSpPr/>
          <p:nvPr/>
        </p:nvSpPr>
        <p:spPr>
          <a:xfrm>
            <a:off x="1143000" y="6419850"/>
            <a:ext cx="7829550" cy="312420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20955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3" name="Text 10"/>
          <p:cNvSpPr/>
          <p:nvPr/>
        </p:nvSpPr>
        <p:spPr>
          <a:xfrm>
            <a:off x="1514475" y="6753225"/>
            <a:ext cx="2482676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Static Risk Maps</a:t>
            </a:r>
            <a:endParaRPr lang="en-US" sz="2475" dirty="0"/>
          </a:p>
        </p:txBody>
      </p:sp>
      <p:sp>
        <p:nvSpPr>
          <p:cNvPr id="14" name="Text 11"/>
          <p:cNvSpPr/>
          <p:nvPr/>
        </p:nvSpPr>
        <p:spPr>
          <a:xfrm>
            <a:off x="1514475" y="7277100"/>
            <a:ext cx="7299198" cy="1433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Existing hotspot maps don't update with real-time traffic, weather, or time-of-day conditions.</a:t>
            </a:r>
            <a:endParaRPr lang="en-US" sz="2775" dirty="0"/>
          </a:p>
        </p:txBody>
      </p:sp>
      <p:sp>
        <p:nvSpPr>
          <p:cNvPr id="15" name="Shape 12"/>
          <p:cNvSpPr/>
          <p:nvPr/>
        </p:nvSpPr>
        <p:spPr>
          <a:xfrm>
            <a:off x="9315450" y="6419850"/>
            <a:ext cx="7829550" cy="312420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20955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6" name="Text 13"/>
          <p:cNvSpPr/>
          <p:nvPr/>
        </p:nvSpPr>
        <p:spPr>
          <a:xfrm>
            <a:off x="9686925" y="6753225"/>
            <a:ext cx="333315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 Advance Driver Warning</a:t>
            </a:r>
            <a:endParaRPr lang="en-US" sz="2475" dirty="0"/>
          </a:p>
        </p:txBody>
      </p:sp>
      <p:sp>
        <p:nvSpPr>
          <p:cNvPr id="17" name="Text 14"/>
          <p:cNvSpPr/>
          <p:nvPr/>
        </p:nvSpPr>
        <p:spPr>
          <a:xfrm>
            <a:off x="9686925" y="7277100"/>
            <a:ext cx="7299198" cy="1433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Drivers get no proactive alert before entering high-risk stretches, especially at night or low visibility.</a:t>
            </a:r>
            <a:endParaRPr lang="en-US" sz="2775" dirty="0"/>
          </a:p>
        </p:txBody>
      </p:sp>
      <p:sp>
        <p:nvSpPr>
          <p:cNvPr id="18" name="Text 15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 / </a:t>
            </a:r>
            <a:r>
              <a:rPr lang="en-US" sz="1800" kern="0" spc="75" dirty="0" smtClean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393906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4" name="Text 1"/>
          <p:cNvSpPr/>
          <p:nvPr/>
        </p:nvSpPr>
        <p:spPr>
          <a:xfrm>
            <a:off x="8965406" y="1333500"/>
            <a:ext cx="96678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GOAL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5920703" y="1752600"/>
            <a:ext cx="6446446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 Statement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2971800"/>
            <a:ext cx="16002000" cy="3148013"/>
          </a:xfrm>
          <a:prstGeom prst="roundRect">
            <a:avLst>
              <a:gd name="adj" fmla="val 6051"/>
            </a:avLst>
          </a:prstGeom>
          <a:solidFill>
            <a:srgbClr val="1E2A55"/>
          </a:solidFill>
          <a:ln/>
          <a:effectLst>
            <a:outerShdw blurRad="285750" dist="133350" dir="5400000" algn="bl" rotWithShape="0">
              <a:srgbClr val="141E3C">
                <a:alpha val="22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7" name="Text 4"/>
          <p:cNvSpPr/>
          <p:nvPr/>
        </p:nvSpPr>
        <p:spPr>
          <a:xfrm>
            <a:off x="1657350" y="3409950"/>
            <a:ext cx="15422499" cy="2309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315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Design and develop an </a:t>
            </a:r>
            <a:r>
              <a:rPr lang="en-US" sz="3150" b="1" dirty="0">
                <a:solidFill>
                  <a:srgbClr val="FF8A9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AI-driven risk-zone detection and alert system </a:t>
            </a:r>
            <a:r>
              <a:rPr lang="en-US" sz="315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that fuses historical accident records with real-time traffic, weather, and location data to identify </a:t>
            </a:r>
            <a:r>
              <a:rPr lang="en-US" sz="3150" b="1" dirty="0">
                <a:solidFill>
                  <a:srgbClr val="FF8A9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high-risk road zones </a:t>
            </a:r>
            <a:r>
              <a:rPr lang="en-US" sz="315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and proactively </a:t>
            </a:r>
            <a:r>
              <a:rPr lang="en-US" sz="3150" b="1" dirty="0">
                <a:solidFill>
                  <a:srgbClr val="FF8A9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notify drivers and traffic authorities </a:t>
            </a:r>
            <a:r>
              <a:rPr lang="en-US" sz="315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before a vehicle enters a dangerous stretch — while remaining lightweight and </a:t>
            </a:r>
            <a:r>
              <a:rPr lang="en-US" sz="3150" b="1" dirty="0">
                <a:solidFill>
                  <a:srgbClr val="FF8A9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responsive enough for real-time deployment</a:t>
            </a:r>
            <a:r>
              <a:rPr lang="en-US" sz="315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.</a:t>
            </a:r>
            <a:endParaRPr lang="en-US" sz="3150" dirty="0"/>
          </a:p>
        </p:txBody>
      </p:sp>
      <p:sp>
        <p:nvSpPr>
          <p:cNvPr id="8" name="Shape 5"/>
          <p:cNvSpPr/>
          <p:nvPr/>
        </p:nvSpPr>
        <p:spPr>
          <a:xfrm>
            <a:off x="1143000" y="6858000"/>
            <a:ext cx="4376738" cy="1143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1E2A55"/>
            </a:solidFill>
            <a:prstDash val="solid"/>
          </a:ln>
          <a:effectLst>
            <a:outerShdw blurRad="190500" dist="76200" dir="5400000" algn="bl" rotWithShape="0">
              <a:srgbClr val="141E3C">
                <a:alpha val="8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9" name="Text 6"/>
          <p:cNvSpPr/>
          <p:nvPr/>
        </p:nvSpPr>
        <p:spPr>
          <a:xfrm>
            <a:off x="1196578" y="7105650"/>
            <a:ext cx="4269581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Historical + Live Data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1196578" y="7496175"/>
            <a:ext cx="426958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Accident records, GPS, weather</a:t>
            </a:r>
            <a:endParaRPr lang="en-US" sz="1725" dirty="0"/>
          </a:p>
        </p:txBody>
      </p:sp>
      <p:sp>
        <p:nvSpPr>
          <p:cNvPr id="11" name="Text 8"/>
          <p:cNvSpPr/>
          <p:nvPr/>
        </p:nvSpPr>
        <p:spPr>
          <a:xfrm>
            <a:off x="5805488" y="7181850"/>
            <a:ext cx="5715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→</a:t>
            </a:r>
            <a:endParaRPr lang="en-US" sz="3900" dirty="0"/>
          </a:p>
        </p:txBody>
      </p:sp>
      <p:sp>
        <p:nvSpPr>
          <p:cNvPr id="12" name="Shape 9"/>
          <p:cNvSpPr/>
          <p:nvPr/>
        </p:nvSpPr>
        <p:spPr>
          <a:xfrm>
            <a:off x="6586538" y="6858000"/>
            <a:ext cx="5153025" cy="1143000"/>
          </a:xfrm>
          <a:prstGeom prst="roundRect">
            <a:avLst>
              <a:gd name="adj" fmla="val 13333"/>
            </a:avLst>
          </a:prstGeom>
          <a:solidFill>
            <a:srgbClr val="EEF1F8"/>
          </a:solidFill>
          <a:ln w="19050">
            <a:solidFill>
              <a:srgbClr val="1E2A55"/>
            </a:solidFill>
            <a:prstDash val="solid"/>
          </a:ln>
          <a:effectLst>
            <a:outerShdw blurRad="190500" dist="76200" dir="5400000" algn="bl" rotWithShape="0">
              <a:srgbClr val="141E3C">
                <a:alpha val="8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3" name="Text 10"/>
          <p:cNvSpPr/>
          <p:nvPr/>
        </p:nvSpPr>
        <p:spPr>
          <a:xfrm>
            <a:off x="6601301" y="7105650"/>
            <a:ext cx="5123498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Clustering + Risk Model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6601301" y="7496175"/>
            <a:ext cx="512349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Uber H3 Grids + HistGradientBoosting</a:t>
            </a:r>
            <a:endParaRPr lang="en-US" sz="1725" dirty="0"/>
          </a:p>
        </p:txBody>
      </p:sp>
      <p:sp>
        <p:nvSpPr>
          <p:cNvPr id="15" name="Text 12"/>
          <p:cNvSpPr/>
          <p:nvPr/>
        </p:nvSpPr>
        <p:spPr>
          <a:xfrm>
            <a:off x="12025313" y="7181850"/>
            <a:ext cx="5715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→</a:t>
            </a:r>
            <a:endParaRPr lang="en-US" sz="3900" dirty="0"/>
          </a:p>
        </p:txBody>
      </p:sp>
      <p:sp>
        <p:nvSpPr>
          <p:cNvPr id="16" name="Shape 13"/>
          <p:cNvSpPr/>
          <p:nvPr/>
        </p:nvSpPr>
        <p:spPr>
          <a:xfrm>
            <a:off x="12806363" y="6877050"/>
            <a:ext cx="4338638" cy="1104900"/>
          </a:xfrm>
          <a:prstGeom prst="roundRect">
            <a:avLst>
              <a:gd name="adj" fmla="val 13793"/>
            </a:avLst>
          </a:prstGeom>
          <a:solidFill>
            <a:srgbClr val="1E2A55"/>
          </a:solidFill>
          <a:ln/>
          <a:effectLst>
            <a:outerShdw blurRad="209550" dist="95250" dir="5400000" algn="bl" rotWithShape="0">
              <a:srgbClr val="141E3C">
                <a:alpha val="20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7" name="Text 14"/>
          <p:cNvSpPr/>
          <p:nvPr/>
        </p:nvSpPr>
        <p:spPr>
          <a:xfrm>
            <a:off x="12840891" y="7105650"/>
            <a:ext cx="4269581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Risk Zone + Alert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12840891" y="7496175"/>
            <a:ext cx="426958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C9D2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Map &amp; live notification</a:t>
            </a:r>
            <a:endParaRPr lang="en-US" sz="1725" dirty="0"/>
          </a:p>
        </p:txBody>
      </p:sp>
      <p:sp>
        <p:nvSpPr>
          <p:cNvPr id="19" name="Shape 16"/>
          <p:cNvSpPr/>
          <p:nvPr/>
        </p:nvSpPr>
        <p:spPr>
          <a:xfrm>
            <a:off x="1143000" y="8543925"/>
            <a:ext cx="5800725" cy="100012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Text 17"/>
          <p:cNvSpPr/>
          <p:nvPr/>
        </p:nvSpPr>
        <p:spPr>
          <a:xfrm>
            <a:off x="1400175" y="8743950"/>
            <a:ext cx="581501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150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TARGET USERS</a:t>
            </a:r>
            <a:endParaRPr lang="en-US" sz="1650" dirty="0"/>
          </a:p>
        </p:txBody>
      </p:sp>
      <p:sp>
        <p:nvSpPr>
          <p:cNvPr id="21" name="Text 18"/>
          <p:cNvSpPr/>
          <p:nvPr/>
        </p:nvSpPr>
        <p:spPr>
          <a:xfrm>
            <a:off x="1400175" y="9048750"/>
            <a:ext cx="581501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Drivers, traffic police, city planners</a:t>
            </a:r>
            <a:endParaRPr lang="en-US" sz="2025" dirty="0"/>
          </a:p>
        </p:txBody>
      </p:sp>
      <p:sp>
        <p:nvSpPr>
          <p:cNvPr id="22" name="Shape 19"/>
          <p:cNvSpPr/>
          <p:nvPr/>
        </p:nvSpPr>
        <p:spPr>
          <a:xfrm>
            <a:off x="7210425" y="8543925"/>
            <a:ext cx="4833938" cy="100012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3" name="Text 20"/>
          <p:cNvSpPr/>
          <p:nvPr/>
        </p:nvSpPr>
        <p:spPr>
          <a:xfrm>
            <a:off x="7467600" y="8743950"/>
            <a:ext cx="475154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150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INPUT</a:t>
            </a:r>
            <a:endParaRPr lang="en-US" sz="1650" dirty="0"/>
          </a:p>
        </p:txBody>
      </p:sp>
      <p:sp>
        <p:nvSpPr>
          <p:cNvPr id="24" name="Text 21"/>
          <p:cNvSpPr/>
          <p:nvPr/>
        </p:nvSpPr>
        <p:spPr>
          <a:xfrm>
            <a:off x="7467600" y="9048750"/>
            <a:ext cx="475154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Historical accident data + live GPS/weather feed</a:t>
            </a:r>
            <a:endParaRPr lang="en-US" sz="2025" dirty="0"/>
          </a:p>
        </p:txBody>
      </p:sp>
      <p:sp>
        <p:nvSpPr>
          <p:cNvPr id="25" name="Shape 22"/>
          <p:cNvSpPr/>
          <p:nvPr/>
        </p:nvSpPr>
        <p:spPr>
          <a:xfrm>
            <a:off x="12311063" y="8543925"/>
            <a:ext cx="4833938" cy="100012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6" name="Text 23"/>
          <p:cNvSpPr/>
          <p:nvPr/>
        </p:nvSpPr>
        <p:spPr>
          <a:xfrm>
            <a:off x="12568238" y="8743950"/>
            <a:ext cx="475154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150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OUTPUT</a:t>
            </a:r>
            <a:endParaRPr lang="en-US" sz="1650" dirty="0"/>
          </a:p>
        </p:txBody>
      </p:sp>
      <p:sp>
        <p:nvSpPr>
          <p:cNvPr id="27" name="Text 24"/>
          <p:cNvSpPr/>
          <p:nvPr/>
        </p:nvSpPr>
        <p:spPr>
          <a:xfrm>
            <a:off x="12568238" y="9048750"/>
            <a:ext cx="475154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Risk zone map + real-time alert</a:t>
            </a:r>
            <a:endParaRPr lang="en-US" sz="2025" dirty="0"/>
          </a:p>
        </p:txBody>
      </p:sp>
      <p:sp>
        <p:nvSpPr>
          <p:cNvPr id="28" name="Text 25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 / </a:t>
            </a:r>
            <a:r>
              <a:rPr lang="en-US" sz="1800" kern="0" spc="75" dirty="0" smtClean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515225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4" name="Text 1"/>
          <p:cNvSpPr/>
          <p:nvPr/>
        </p:nvSpPr>
        <p:spPr>
          <a:xfrm>
            <a:off x="7992428" y="1333500"/>
            <a:ext cx="291274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RELATED WORK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6213083" y="1752600"/>
            <a:ext cx="5861834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Literature Survey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2933700"/>
            <a:ext cx="16002000" cy="4610100"/>
          </a:xfrm>
          <a:prstGeom prst="roundRect">
            <a:avLst>
              <a:gd name="adj" fmla="val 2893"/>
            </a:avLst>
          </a:prstGeom>
          <a:ln/>
          <a:effectLst>
            <a:outerShdw blurRad="247650" dist="95250" dir="5400000" algn="bl" rotWithShape="0">
              <a:srgbClr val="141E3C">
                <a:alpha val="10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7" name="Shape 4"/>
          <p:cNvSpPr/>
          <p:nvPr/>
        </p:nvSpPr>
        <p:spPr>
          <a:xfrm>
            <a:off x="1143000" y="2933700"/>
            <a:ext cx="16002000" cy="666750"/>
          </a:xfrm>
          <a:prstGeom prst="rect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p/>
        </p:txBody>
      </p:sp>
      <p:sp>
        <p:nvSpPr>
          <p:cNvPr id="8" name="Text 5"/>
          <p:cNvSpPr/>
          <p:nvPr/>
        </p:nvSpPr>
        <p:spPr>
          <a:xfrm>
            <a:off x="1352550" y="3124200"/>
            <a:ext cx="353647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Paper / Author (Year)</a:t>
            </a:r>
            <a:endParaRPr lang="en-US" sz="1875" dirty="0"/>
          </a:p>
        </p:txBody>
      </p:sp>
      <p:sp>
        <p:nvSpPr>
          <p:cNvPr id="9" name="Text 6"/>
          <p:cNvSpPr/>
          <p:nvPr/>
        </p:nvSpPr>
        <p:spPr>
          <a:xfrm>
            <a:off x="5192911" y="3124200"/>
            <a:ext cx="386620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Methodology Used</a:t>
            </a:r>
            <a:endParaRPr lang="en-US" sz="1875" dirty="0"/>
          </a:p>
        </p:txBody>
      </p:sp>
      <p:sp>
        <p:nvSpPr>
          <p:cNvPr id="10" name="Text 7"/>
          <p:cNvSpPr/>
          <p:nvPr/>
        </p:nvSpPr>
        <p:spPr>
          <a:xfrm>
            <a:off x="9353401" y="3124200"/>
            <a:ext cx="353647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Limitation</a:t>
            </a:r>
            <a:endParaRPr lang="en-US" sz="1875" dirty="0"/>
          </a:p>
        </p:txBody>
      </p:sp>
      <p:sp>
        <p:nvSpPr>
          <p:cNvPr id="11" name="Shape 8"/>
          <p:cNvSpPr/>
          <p:nvPr/>
        </p:nvSpPr>
        <p:spPr>
          <a:xfrm>
            <a:off x="12984212" y="2933700"/>
            <a:ext cx="4160788" cy="666750"/>
          </a:xfrm>
          <a:prstGeom prst="rect">
            <a:avLst/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12" name="Text 9"/>
          <p:cNvSpPr/>
          <p:nvPr/>
        </p:nvSpPr>
        <p:spPr>
          <a:xfrm>
            <a:off x="13193762" y="3124200"/>
            <a:ext cx="386651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Our Improvement</a:t>
            </a:r>
            <a:endParaRPr lang="en-US" sz="1875" dirty="0"/>
          </a:p>
        </p:txBody>
      </p:sp>
      <p:sp>
        <p:nvSpPr>
          <p:cNvPr id="13" name="Shape 10"/>
          <p:cNvSpPr/>
          <p:nvPr/>
        </p:nvSpPr>
        <p:spPr>
          <a:xfrm>
            <a:off x="1143000" y="3600450"/>
            <a:ext cx="16002000" cy="12001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>
            <a:normAutofit/>
          </a:bodyPr>
          <a:p/>
        </p:txBody>
      </p:sp>
      <p:sp>
        <p:nvSpPr>
          <p:cNvPr id="14" name="Text 11"/>
          <p:cNvSpPr/>
          <p:nvPr/>
        </p:nvSpPr>
        <p:spPr>
          <a:xfrm>
            <a:off x="1352550" y="3771900"/>
            <a:ext cx="353647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Yassin &amp; Pooja, SN Applied Sciences (2020)</a:t>
            </a:r>
            <a:endParaRPr lang="en-US" sz="1875" dirty="0"/>
          </a:p>
        </p:txBody>
      </p:sp>
      <p:sp>
        <p:nvSpPr>
          <p:cNvPr id="15" name="Text 12"/>
          <p:cNvSpPr/>
          <p:nvPr/>
        </p:nvSpPr>
        <p:spPr>
          <a:xfrm>
            <a:off x="5192911" y="3771900"/>
            <a:ext cx="3866205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Hybrid k-means clustering + random forest for accident severity, 99.86% accuracy</a:t>
            </a:r>
            <a:endParaRPr lang="en-US" sz="1875" dirty="0"/>
          </a:p>
        </p:txBody>
      </p:sp>
      <p:sp>
        <p:nvSpPr>
          <p:cNvPr id="16" name="Text 13"/>
          <p:cNvSpPr/>
          <p:nvPr/>
        </p:nvSpPr>
        <p:spPr>
          <a:xfrm>
            <a:off x="9353401" y="3771900"/>
            <a:ext cx="353647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Small, localized dataset; no real-time alert integration</a:t>
            </a:r>
            <a:endParaRPr lang="en-US" sz="1875" dirty="0"/>
          </a:p>
        </p:txBody>
      </p:sp>
      <p:sp>
        <p:nvSpPr>
          <p:cNvPr id="17" name="Shape 14"/>
          <p:cNvSpPr/>
          <p:nvPr/>
        </p:nvSpPr>
        <p:spPr>
          <a:xfrm>
            <a:off x="12984212" y="3600450"/>
            <a:ext cx="4160788" cy="1200150"/>
          </a:xfrm>
          <a:prstGeom prst="rect">
            <a:avLst/>
          </a:prstGeom>
          <a:solidFill>
            <a:srgbClr val="EEF1F8"/>
          </a:solidFill>
          <a:ln/>
        </p:spPr>
        <p:txBody>
          <a:bodyPr wrap="square">
            <a:normAutofit/>
          </a:bodyPr>
          <a:p/>
        </p:txBody>
      </p:sp>
      <p:sp>
        <p:nvSpPr>
          <p:cNvPr id="18" name="Text 15"/>
          <p:cNvSpPr/>
          <p:nvPr/>
        </p:nvSpPr>
        <p:spPr>
          <a:xfrm>
            <a:off x="13193762" y="3771900"/>
            <a:ext cx="386651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Multi-region data + live alert layer</a:t>
            </a:r>
            <a:endParaRPr lang="en-US" sz="1875" dirty="0"/>
          </a:p>
        </p:txBody>
      </p:sp>
      <p:sp>
        <p:nvSpPr>
          <p:cNvPr id="19" name="Shape 16"/>
          <p:cNvSpPr/>
          <p:nvPr/>
        </p:nvSpPr>
        <p:spPr>
          <a:xfrm>
            <a:off x="1143000" y="4800600"/>
            <a:ext cx="16002000" cy="914400"/>
          </a:xfrm>
          <a:prstGeom prst="rect">
            <a:avLst/>
          </a:prstGeom>
          <a:solidFill>
            <a:srgbClr val="F4F5F8"/>
          </a:solidFill>
          <a:ln/>
        </p:spPr>
        <p:txBody>
          <a:bodyPr wrap="square">
            <a:normAutofit/>
          </a:bodyPr>
          <a:p/>
        </p:txBody>
      </p:sp>
      <p:sp>
        <p:nvSpPr>
          <p:cNvPr id="20" name="Text 17"/>
          <p:cNvSpPr/>
          <p:nvPr/>
        </p:nvSpPr>
        <p:spPr>
          <a:xfrm>
            <a:off x="1352550" y="4972050"/>
            <a:ext cx="353647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Hébert, Concordia University Thesis (2020)</a:t>
            </a:r>
            <a:endParaRPr lang="en-US" sz="1875" dirty="0"/>
          </a:p>
        </p:txBody>
      </p:sp>
      <p:sp>
        <p:nvSpPr>
          <p:cNvPr id="21" name="Text 18"/>
          <p:cNvSpPr/>
          <p:nvPr/>
        </p:nvSpPr>
        <p:spPr>
          <a:xfrm>
            <a:off x="5192911" y="4972050"/>
            <a:ext cx="386620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Balanced random forest fusing accident, weather &amp; road-network data</a:t>
            </a:r>
            <a:endParaRPr lang="en-US" sz="1875" dirty="0"/>
          </a:p>
        </p:txBody>
      </p:sp>
      <p:sp>
        <p:nvSpPr>
          <p:cNvPr id="22" name="Text 19"/>
          <p:cNvSpPr/>
          <p:nvPr/>
        </p:nvSpPr>
        <p:spPr>
          <a:xfrm>
            <a:off x="9353401" y="4972050"/>
            <a:ext cx="353647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Offline batch prediction only; no live driver alerts</a:t>
            </a:r>
            <a:endParaRPr lang="en-US" sz="1875" dirty="0"/>
          </a:p>
        </p:txBody>
      </p:sp>
      <p:sp>
        <p:nvSpPr>
          <p:cNvPr id="23" name="Shape 20"/>
          <p:cNvSpPr/>
          <p:nvPr/>
        </p:nvSpPr>
        <p:spPr>
          <a:xfrm>
            <a:off x="12984212" y="4800600"/>
            <a:ext cx="4160788" cy="914400"/>
          </a:xfrm>
          <a:prstGeom prst="rect">
            <a:avLst/>
          </a:prstGeom>
          <a:solidFill>
            <a:srgbClr val="E4E9F4"/>
          </a:solidFill>
          <a:ln/>
        </p:spPr>
        <p:txBody>
          <a:bodyPr wrap="square">
            <a:normAutofit/>
          </a:bodyPr>
          <a:p/>
        </p:txBody>
      </p:sp>
      <p:sp>
        <p:nvSpPr>
          <p:cNvPr id="24" name="Text 21"/>
          <p:cNvSpPr/>
          <p:nvPr/>
        </p:nvSpPr>
        <p:spPr>
          <a:xfrm>
            <a:off x="13193762" y="4972050"/>
            <a:ext cx="386651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Real-time alert pipeline built on top of the risk model</a:t>
            </a:r>
            <a:endParaRPr lang="en-US" sz="1875" dirty="0"/>
          </a:p>
        </p:txBody>
      </p:sp>
      <p:sp>
        <p:nvSpPr>
          <p:cNvPr id="25" name="Shape 22"/>
          <p:cNvSpPr/>
          <p:nvPr/>
        </p:nvSpPr>
        <p:spPr>
          <a:xfrm>
            <a:off x="1143000" y="5715000"/>
            <a:ext cx="16002000" cy="9144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>
            <a:normAutofit/>
          </a:bodyPr>
          <a:p/>
        </p:txBody>
      </p:sp>
      <p:sp>
        <p:nvSpPr>
          <p:cNvPr id="26" name="Text 23"/>
          <p:cNvSpPr/>
          <p:nvPr/>
        </p:nvSpPr>
        <p:spPr>
          <a:xfrm>
            <a:off x="1352550" y="5886450"/>
            <a:ext cx="353647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r>
              <a:rPr lang="en-US" dirty="0" smtClean="0"/>
              <a:t> </a:t>
            </a:r>
            <a:r>
              <a:rPr lang="en-US" sz="18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ML for Classifying Accident Hotspots, ISPRS Int. J. Geo-Inf. (2023)</a:t>
            </a:r>
          </a:p>
        </p:txBody>
      </p:sp>
      <p:sp>
        <p:nvSpPr>
          <p:cNvPr id="27" name="Text 24"/>
          <p:cNvSpPr/>
          <p:nvPr/>
        </p:nvSpPr>
        <p:spPr>
          <a:xfrm>
            <a:off x="5192911" y="5886450"/>
            <a:ext cx="386620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SVM, random forest &amp; MLP for federal-highway hotspot classification</a:t>
            </a:r>
            <a:endParaRPr lang="en-US" sz="1875" dirty="0"/>
          </a:p>
        </p:txBody>
      </p:sp>
      <p:sp>
        <p:nvSpPr>
          <p:cNvPr id="28" name="Text 25"/>
          <p:cNvSpPr/>
          <p:nvPr/>
        </p:nvSpPr>
        <p:spPr>
          <a:xfrm>
            <a:off x="9353401" y="5886450"/>
            <a:ext cx="353647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Static hotspot classes; alerting remains a stated future goal</a:t>
            </a:r>
            <a:endParaRPr lang="en-US" sz="1875" dirty="0"/>
          </a:p>
        </p:txBody>
      </p:sp>
      <p:sp>
        <p:nvSpPr>
          <p:cNvPr id="29" name="Shape 26"/>
          <p:cNvSpPr/>
          <p:nvPr/>
        </p:nvSpPr>
        <p:spPr>
          <a:xfrm>
            <a:off x="12984212" y="5715000"/>
            <a:ext cx="4160788" cy="914400"/>
          </a:xfrm>
          <a:prstGeom prst="rect">
            <a:avLst/>
          </a:prstGeom>
          <a:solidFill>
            <a:srgbClr val="EEF1F8"/>
          </a:solidFill>
          <a:ln/>
        </p:spPr>
        <p:txBody>
          <a:bodyPr wrap="square">
            <a:normAutofit/>
          </a:bodyPr>
          <a:p/>
        </p:txBody>
      </p:sp>
      <p:sp>
        <p:nvSpPr>
          <p:cNvPr id="30" name="Text 27"/>
          <p:cNvSpPr/>
          <p:nvPr/>
        </p:nvSpPr>
        <p:spPr>
          <a:xfrm>
            <a:off x="13193762" y="5886450"/>
            <a:ext cx="386651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Working real-time, location-triggered alert mechanism</a:t>
            </a:r>
            <a:endParaRPr lang="en-US" sz="1875" dirty="0"/>
          </a:p>
        </p:txBody>
      </p:sp>
      <p:sp>
        <p:nvSpPr>
          <p:cNvPr id="31" name="Shape 28"/>
          <p:cNvSpPr/>
          <p:nvPr/>
        </p:nvSpPr>
        <p:spPr>
          <a:xfrm>
            <a:off x="1143000" y="6629400"/>
            <a:ext cx="16002000" cy="914400"/>
          </a:xfrm>
          <a:prstGeom prst="rect">
            <a:avLst/>
          </a:prstGeom>
          <a:solidFill>
            <a:srgbClr val="F4F5F8"/>
          </a:solidFill>
          <a:ln/>
        </p:spPr>
        <p:txBody>
          <a:bodyPr wrap="square">
            <a:normAutofit/>
          </a:bodyPr>
          <a:p/>
        </p:txBody>
      </p:sp>
      <p:sp>
        <p:nvSpPr>
          <p:cNvPr id="32" name="Text 29"/>
          <p:cNvSpPr/>
          <p:nvPr/>
        </p:nvSpPr>
        <p:spPr>
          <a:xfrm>
            <a:off x="1352550" y="6800850"/>
            <a:ext cx="353647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r>
              <a:rPr lang="en-US" sz="1875" b="1" dirty="0" err="1" smtClean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Telematics interpretable ML</a:t>
            </a:r>
            <a:r>
              <a:rPr lang="en-US" sz="1875" b="1" dirty="0" smtClean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, </a:t>
            </a:r>
            <a:r>
              <a:rPr lang="en-US" sz="1875" b="1" dirty="0" err="1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PLOS ONE</a:t>
            </a:r>
            <a:r>
              <a:rPr lang="en-US" sz="18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(2025)</a:t>
            </a:r>
            <a:endParaRPr lang="en-US" sz="1875" dirty="0"/>
          </a:p>
        </p:txBody>
      </p:sp>
      <p:sp>
        <p:nvSpPr>
          <p:cNvPr id="33" name="Text 30"/>
          <p:cNvSpPr/>
          <p:nvPr/>
        </p:nvSpPr>
        <p:spPr>
          <a:xfrm>
            <a:off x="5192911" y="6800850"/>
            <a:ext cx="386620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Interpretable ML on fleet telematics to flag driver-error hotspots</a:t>
            </a:r>
            <a:endParaRPr lang="en-US" sz="1875" dirty="0"/>
          </a:p>
        </p:txBody>
      </p:sp>
      <p:sp>
        <p:nvSpPr>
          <p:cNvPr id="34" name="Text 31"/>
          <p:cNvSpPr/>
          <p:nvPr/>
        </p:nvSpPr>
        <p:spPr>
          <a:xfrm>
            <a:off x="9353401" y="6800850"/>
            <a:ext cx="353647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Needs costly in-vehicle telematics hardware fleet-wide</a:t>
            </a:r>
            <a:endParaRPr lang="en-US" sz="1875" dirty="0"/>
          </a:p>
        </p:txBody>
      </p:sp>
      <p:sp>
        <p:nvSpPr>
          <p:cNvPr id="35" name="Shape 32"/>
          <p:cNvSpPr/>
          <p:nvPr/>
        </p:nvSpPr>
        <p:spPr>
          <a:xfrm>
            <a:off x="12984212" y="6629400"/>
            <a:ext cx="4160788" cy="914400"/>
          </a:xfrm>
          <a:prstGeom prst="rect">
            <a:avLst/>
          </a:prstGeom>
          <a:solidFill>
            <a:srgbClr val="E4E9F4"/>
          </a:solidFill>
          <a:ln/>
        </p:spPr>
        <p:txBody>
          <a:bodyPr wrap="square">
            <a:normAutofit/>
          </a:bodyPr>
          <a:p/>
        </p:txBody>
      </p:sp>
      <p:sp>
        <p:nvSpPr>
          <p:cNvPr id="36" name="Text 33"/>
          <p:cNvSpPr/>
          <p:nvPr/>
        </p:nvSpPr>
        <p:spPr>
          <a:xfrm>
            <a:off x="13193762" y="6800850"/>
            <a:ext cx="386651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Hardware-free, GPS-only alerting usable on any smartphone</a:t>
            </a:r>
            <a:endParaRPr lang="en-US" sz="1875" dirty="0"/>
          </a:p>
        </p:txBody>
      </p:sp>
      <p:sp>
        <p:nvSpPr>
          <p:cNvPr id="37" name="Shape 34"/>
          <p:cNvSpPr/>
          <p:nvPr/>
        </p:nvSpPr>
        <p:spPr>
          <a:xfrm>
            <a:off x="1143000" y="7791450"/>
            <a:ext cx="16002000" cy="1165622"/>
          </a:xfrm>
          <a:prstGeom prst="roundRect">
            <a:avLst>
              <a:gd name="adj" fmla="val 9806"/>
            </a:avLst>
          </a:prstGeom>
          <a:solidFill>
            <a:srgbClr val="EEF1F8"/>
          </a:solidFill>
          <a:ln/>
        </p:spPr>
        <p:txBody>
          <a:bodyPr wrap="square">
            <a:normAutofit/>
          </a:bodyPr>
          <a:p/>
        </p:txBody>
      </p:sp>
      <p:sp>
        <p:nvSpPr>
          <p:cNvPr id="38" name="Shape 35"/>
          <p:cNvSpPr/>
          <p:nvPr/>
        </p:nvSpPr>
        <p:spPr>
          <a:xfrm>
            <a:off x="1143000" y="7791450"/>
            <a:ext cx="76200" cy="1165622"/>
          </a:xfrm>
          <a:prstGeom prst="rect">
            <a:avLst/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39" name="Text 36"/>
          <p:cNvSpPr/>
          <p:nvPr/>
        </p:nvSpPr>
        <p:spPr>
          <a:xfrm>
            <a:off x="1504950" y="8001000"/>
            <a:ext cx="15814929" cy="784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Key takeaway: </a:t>
            </a:r>
            <a:r>
              <a:rPr lang="en-US" sz="21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Existing work offers static hotspot maps, offline severity classifiers, or hardware-heavy telematics — our project targets a </a:t>
            </a:r>
            <a:r>
              <a:rPr lang="en-US" sz="210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lightweight, real-time, alert-integrated </a:t>
            </a:r>
            <a:r>
              <a:rPr lang="en-US" sz="21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solution.</a:t>
            </a:r>
            <a:endParaRPr lang="en-US" sz="2100" dirty="0"/>
          </a:p>
        </p:txBody>
      </p:sp>
      <p:sp>
        <p:nvSpPr>
          <p:cNvPr id="40" name="Text 37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 / </a:t>
            </a:r>
            <a:r>
              <a:rPr lang="en-US" sz="1800" kern="0" spc="75" dirty="0" smtClean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50919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4" name="Text 1"/>
          <p:cNvSpPr/>
          <p:nvPr/>
        </p:nvSpPr>
        <p:spPr>
          <a:xfrm>
            <a:off x="7811691" y="1333500"/>
            <a:ext cx="327421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IS MISSING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6702914" y="1752600"/>
            <a:ext cx="4882024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Research Gaps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2971800"/>
            <a:ext cx="7858125" cy="2247900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7" name="Shape 4"/>
          <p:cNvSpPr/>
          <p:nvPr/>
        </p:nvSpPr>
        <p:spPr>
          <a:xfrm>
            <a:off x="1438275" y="3228975"/>
            <a:ext cx="609600" cy="609600"/>
          </a:xfrm>
          <a:prstGeom prst="roundRect">
            <a:avLst>
              <a:gd name="adj" fmla="val 18750"/>
            </a:avLst>
          </a:prstGeom>
          <a:solidFill>
            <a:srgbClr val="FBE7E9"/>
          </a:solidFill>
          <a:ln/>
        </p:spPr>
        <p:txBody>
          <a:bodyPr wrap="square">
            <a:normAutofit/>
          </a:bodyPr>
          <a:p/>
        </p:txBody>
      </p:sp>
      <p:sp>
        <p:nvSpPr>
          <p:cNvPr id="8" name="Text 5"/>
          <p:cNvSpPr/>
          <p:nvPr/>
        </p:nvSpPr>
        <p:spPr>
          <a:xfrm>
            <a:off x="1400175" y="3228975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G1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2257425" y="3228975"/>
            <a:ext cx="7093268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Static Hotspot Maps</a:t>
            </a:r>
            <a:endParaRPr lang="en-US" sz="2175" dirty="0"/>
          </a:p>
        </p:txBody>
      </p:sp>
      <p:sp>
        <p:nvSpPr>
          <p:cNvPr id="10" name="Text 7"/>
          <p:cNvSpPr/>
          <p:nvPr/>
        </p:nvSpPr>
        <p:spPr>
          <a:xfrm>
            <a:off x="2257425" y="3609975"/>
            <a:ext cx="6641878" cy="13181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Most hotspot studies produce fixed maps from historical data alone, never updated with live conditions.</a:t>
            </a:r>
            <a:endParaRPr lang="en-US" sz="2625" dirty="0"/>
          </a:p>
        </p:txBody>
      </p:sp>
      <p:sp>
        <p:nvSpPr>
          <p:cNvPr id="11" name="Shape 8"/>
          <p:cNvSpPr/>
          <p:nvPr/>
        </p:nvSpPr>
        <p:spPr>
          <a:xfrm>
            <a:off x="9286875" y="2971800"/>
            <a:ext cx="7858125" cy="2247900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2" name="Shape 9"/>
          <p:cNvSpPr/>
          <p:nvPr/>
        </p:nvSpPr>
        <p:spPr>
          <a:xfrm>
            <a:off x="9582150" y="3228975"/>
            <a:ext cx="609600" cy="609600"/>
          </a:xfrm>
          <a:prstGeom prst="roundRect">
            <a:avLst>
              <a:gd name="adj" fmla="val 18750"/>
            </a:avLst>
          </a:prstGeom>
          <a:solidFill>
            <a:srgbClr val="FBE7E9"/>
          </a:solidFill>
          <a:ln/>
        </p:spPr>
        <p:txBody>
          <a:bodyPr wrap="square">
            <a:normAutofit/>
          </a:bodyPr>
          <a:p/>
        </p:txBody>
      </p:sp>
      <p:sp>
        <p:nvSpPr>
          <p:cNvPr id="13" name="Text 10"/>
          <p:cNvSpPr/>
          <p:nvPr/>
        </p:nvSpPr>
        <p:spPr>
          <a:xfrm>
            <a:off x="9544050" y="3228975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G2</a:t>
            </a:r>
            <a:endParaRPr lang="en-US" sz="2250" dirty="0"/>
          </a:p>
        </p:txBody>
      </p:sp>
      <p:sp>
        <p:nvSpPr>
          <p:cNvPr id="14" name="Text 11"/>
          <p:cNvSpPr/>
          <p:nvPr/>
        </p:nvSpPr>
        <p:spPr>
          <a:xfrm>
            <a:off x="10401300" y="3228975"/>
            <a:ext cx="7093268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 Real-Time Alert Layer</a:t>
            </a:r>
            <a:endParaRPr lang="en-US" sz="2175" dirty="0"/>
          </a:p>
        </p:txBody>
      </p:sp>
      <p:sp>
        <p:nvSpPr>
          <p:cNvPr id="15" name="Text 12"/>
          <p:cNvSpPr/>
          <p:nvPr/>
        </p:nvSpPr>
        <p:spPr>
          <a:xfrm>
            <a:off x="10401300" y="3609975"/>
            <a:ext cx="6641878" cy="13181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Prediction models rarely connect to an actual driver-facing alert mechanism.</a:t>
            </a:r>
            <a:endParaRPr lang="en-US" sz="2625" dirty="0"/>
          </a:p>
        </p:txBody>
      </p:sp>
      <p:sp>
        <p:nvSpPr>
          <p:cNvPr id="16" name="Shape 13"/>
          <p:cNvSpPr/>
          <p:nvPr/>
        </p:nvSpPr>
        <p:spPr>
          <a:xfrm>
            <a:off x="1143000" y="5448300"/>
            <a:ext cx="7858125" cy="2247900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7" name="Shape 14"/>
          <p:cNvSpPr/>
          <p:nvPr/>
        </p:nvSpPr>
        <p:spPr>
          <a:xfrm>
            <a:off x="1438275" y="5705475"/>
            <a:ext cx="609600" cy="609600"/>
          </a:xfrm>
          <a:prstGeom prst="roundRect">
            <a:avLst>
              <a:gd name="adj" fmla="val 18750"/>
            </a:avLst>
          </a:prstGeom>
          <a:solidFill>
            <a:srgbClr val="FBE7E9"/>
          </a:solidFill>
          <a:ln/>
        </p:spPr>
        <p:txBody>
          <a:bodyPr wrap="square">
            <a:normAutofit/>
          </a:bodyPr>
          <a:p/>
        </p:txBody>
      </p:sp>
      <p:sp>
        <p:nvSpPr>
          <p:cNvPr id="18" name="Text 15"/>
          <p:cNvSpPr/>
          <p:nvPr/>
        </p:nvSpPr>
        <p:spPr>
          <a:xfrm>
            <a:off x="1400175" y="5705475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G3</a:t>
            </a:r>
            <a:endParaRPr lang="en-US" sz="2250" dirty="0"/>
          </a:p>
        </p:txBody>
      </p:sp>
      <p:sp>
        <p:nvSpPr>
          <p:cNvPr id="19" name="Text 16"/>
          <p:cNvSpPr/>
          <p:nvPr/>
        </p:nvSpPr>
        <p:spPr>
          <a:xfrm>
            <a:off x="2257425" y="5705475"/>
            <a:ext cx="7093268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Hardware-Dependent Systems</a:t>
            </a:r>
            <a:endParaRPr lang="en-US" sz="2175" dirty="0"/>
          </a:p>
        </p:txBody>
      </p:sp>
      <p:sp>
        <p:nvSpPr>
          <p:cNvPr id="20" name="Text 17"/>
          <p:cNvSpPr/>
          <p:nvPr/>
        </p:nvSpPr>
        <p:spPr>
          <a:xfrm>
            <a:off x="2257425" y="6086475"/>
            <a:ext cx="6641878" cy="89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Telematics-based systems need costly in-vehicle hardware, out of reach for most vehicles and two-wheelers.</a:t>
            </a:r>
            <a:endParaRPr lang="en-US" sz="2625" dirty="0"/>
          </a:p>
        </p:txBody>
      </p:sp>
      <p:sp>
        <p:nvSpPr>
          <p:cNvPr id="21" name="Shape 18"/>
          <p:cNvSpPr/>
          <p:nvPr/>
        </p:nvSpPr>
        <p:spPr>
          <a:xfrm>
            <a:off x="9286875" y="5448300"/>
            <a:ext cx="7858125" cy="2247900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22" name="Shape 19"/>
          <p:cNvSpPr/>
          <p:nvPr/>
        </p:nvSpPr>
        <p:spPr>
          <a:xfrm>
            <a:off x="9582150" y="5705475"/>
            <a:ext cx="609600" cy="609600"/>
          </a:xfrm>
          <a:prstGeom prst="roundRect">
            <a:avLst>
              <a:gd name="adj" fmla="val 18750"/>
            </a:avLst>
          </a:prstGeom>
          <a:solidFill>
            <a:srgbClr val="FBE7E9"/>
          </a:solidFill>
          <a:ln/>
        </p:spPr>
        <p:txBody>
          <a:bodyPr wrap="square">
            <a:normAutofit/>
          </a:bodyPr>
          <a:p/>
        </p:txBody>
      </p:sp>
      <p:sp>
        <p:nvSpPr>
          <p:cNvPr id="23" name="Text 20"/>
          <p:cNvSpPr/>
          <p:nvPr/>
        </p:nvSpPr>
        <p:spPr>
          <a:xfrm>
            <a:off x="9544050" y="5705475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G4</a:t>
            </a:r>
            <a:endParaRPr lang="en-US" sz="2250" dirty="0"/>
          </a:p>
        </p:txBody>
      </p:sp>
      <p:sp>
        <p:nvSpPr>
          <p:cNvPr id="24" name="Text 21"/>
          <p:cNvSpPr/>
          <p:nvPr/>
        </p:nvSpPr>
        <p:spPr>
          <a:xfrm>
            <a:off x="10401300" y="5705475"/>
            <a:ext cx="7093268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Disconnected Data Sources</a:t>
            </a:r>
            <a:endParaRPr lang="en-US" sz="2175" dirty="0"/>
          </a:p>
        </p:txBody>
      </p:sp>
      <p:sp>
        <p:nvSpPr>
          <p:cNvPr id="25" name="Text 22"/>
          <p:cNvSpPr/>
          <p:nvPr/>
        </p:nvSpPr>
        <p:spPr>
          <a:xfrm>
            <a:off x="10401300" y="6086475"/>
            <a:ext cx="6641878" cy="13181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Accident, weather, and traffic-density data are rarely fused into a single spatio-temporal risk model.</a:t>
            </a:r>
            <a:endParaRPr lang="en-US" sz="2625" dirty="0"/>
          </a:p>
        </p:txBody>
      </p:sp>
      <p:sp>
        <p:nvSpPr>
          <p:cNvPr id="26" name="Shape 23"/>
          <p:cNvSpPr/>
          <p:nvPr/>
        </p:nvSpPr>
        <p:spPr>
          <a:xfrm>
            <a:off x="1143000" y="7925991"/>
            <a:ext cx="16002000" cy="1656159"/>
          </a:xfrm>
          <a:prstGeom prst="roundRect">
            <a:avLst>
              <a:gd name="adj" fmla="val 9202"/>
            </a:avLst>
          </a:prstGeom>
          <a:solidFill>
            <a:srgbClr val="1E2A55"/>
          </a:solidFill>
          <a:ln/>
          <a:effectLst>
            <a:outerShdw blurRad="247650" dist="114300" dir="5400000" algn="bl" rotWithShape="0">
              <a:srgbClr val="141E3C">
                <a:alpha val="20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27" name="Text 24"/>
          <p:cNvSpPr/>
          <p:nvPr/>
        </p:nvSpPr>
        <p:spPr>
          <a:xfrm>
            <a:off x="1485900" y="8615958"/>
            <a:ext cx="336376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150" dirty="0">
                <a:solidFill>
                  <a:srgbClr val="FF8A9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HOW WE SOLVE THEM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4791521" y="8496895"/>
            <a:ext cx="19050" cy="51435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>
            <a:normAutofit/>
          </a:bodyPr>
          <a:p/>
        </p:txBody>
      </p:sp>
      <p:sp>
        <p:nvSpPr>
          <p:cNvPr id="29" name="Text 26"/>
          <p:cNvSpPr/>
          <p:nvPr/>
        </p:nvSpPr>
        <p:spPr>
          <a:xfrm>
            <a:off x="5058221" y="8192691"/>
            <a:ext cx="12096195" cy="11608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</a:t>
            </a:r>
            <a:r>
              <a:rPr lang="en-US" sz="21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geospatial ML pipeline </a:t>
            </a:r>
            <a:r>
              <a:rPr lang="en-US" sz="21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(Uber H3 Spatial Grids clustering + HistGradientBoosting risk scoring) fused with </a:t>
            </a:r>
            <a:r>
              <a:rPr lang="en-US" sz="21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location and weather data, </a:t>
            </a:r>
            <a:r>
              <a:rPr lang="en-US" sz="21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delivering lightweight </a:t>
            </a:r>
            <a:r>
              <a:rPr lang="en-US" sz="21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real-time alerts </a:t>
            </a:r>
            <a:r>
              <a:rPr lang="en-US" sz="21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via a web/mobile interface — no special hardware needed.</a:t>
            </a:r>
            <a:endParaRPr lang="en-US" sz="2100" dirty="0"/>
          </a:p>
        </p:txBody>
      </p:sp>
      <p:sp>
        <p:nvSpPr>
          <p:cNvPr id="30" name="Text 27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7 / </a:t>
            </a:r>
            <a:r>
              <a:rPr lang="en-US" sz="1800" kern="0" spc="75" dirty="0" smtClean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284244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4" name="Text 1"/>
          <p:cNvSpPr/>
          <p:nvPr/>
        </p:nvSpPr>
        <p:spPr>
          <a:xfrm>
            <a:off x="7738348" y="1333500"/>
            <a:ext cx="342090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WE WILL DO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7409654" y="1752600"/>
            <a:ext cx="3468544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Objectives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2971800"/>
            <a:ext cx="7829550" cy="2308622"/>
          </a:xfrm>
          <a:prstGeom prst="roundRect">
            <a:avLst>
              <a:gd name="adj" fmla="val 6601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7" name="Shape 4"/>
          <p:cNvSpPr/>
          <p:nvPr/>
        </p:nvSpPr>
        <p:spPr>
          <a:xfrm>
            <a:off x="1438275" y="3830836"/>
            <a:ext cx="590550" cy="5905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p/>
        </p:txBody>
      </p:sp>
      <p:sp>
        <p:nvSpPr>
          <p:cNvPr id="8" name="Text 5"/>
          <p:cNvSpPr/>
          <p:nvPr/>
        </p:nvSpPr>
        <p:spPr>
          <a:xfrm>
            <a:off x="1400175" y="3830836"/>
            <a:ext cx="6667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2257425" y="3209925"/>
            <a:ext cx="6612446" cy="1870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 collect and preprocess historical road-accident datasets (govt. open data / Kaggle RTA records) — including geocoding and cleaning.</a:t>
            </a:r>
            <a:endParaRPr lang="en-US" sz="2775" dirty="0"/>
          </a:p>
        </p:txBody>
      </p:sp>
      <p:sp>
        <p:nvSpPr>
          <p:cNvPr id="10" name="Shape 7"/>
          <p:cNvSpPr/>
          <p:nvPr/>
        </p:nvSpPr>
        <p:spPr>
          <a:xfrm>
            <a:off x="9315450" y="2971800"/>
            <a:ext cx="7829550" cy="2308622"/>
          </a:xfrm>
          <a:prstGeom prst="roundRect">
            <a:avLst>
              <a:gd name="adj" fmla="val 6601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1" name="Shape 8"/>
          <p:cNvSpPr/>
          <p:nvPr/>
        </p:nvSpPr>
        <p:spPr>
          <a:xfrm>
            <a:off x="9610725" y="3830836"/>
            <a:ext cx="590550" cy="5905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p/>
        </p:txBody>
      </p:sp>
      <p:sp>
        <p:nvSpPr>
          <p:cNvPr id="12" name="Text 9"/>
          <p:cNvSpPr/>
          <p:nvPr/>
        </p:nvSpPr>
        <p:spPr>
          <a:xfrm>
            <a:off x="9572625" y="3830836"/>
            <a:ext cx="6667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250" dirty="0"/>
          </a:p>
        </p:txBody>
      </p:sp>
      <p:sp>
        <p:nvSpPr>
          <p:cNvPr id="13" name="Text 10"/>
          <p:cNvSpPr/>
          <p:nvPr/>
        </p:nvSpPr>
        <p:spPr>
          <a:xfrm>
            <a:off x="10429875" y="3438971"/>
            <a:ext cx="6612446" cy="14123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 fuse accident data with contextual features — time of day, weather, traffic density, and road type.</a:t>
            </a:r>
            <a:endParaRPr lang="en-US" sz="2775" dirty="0"/>
          </a:p>
        </p:txBody>
      </p:sp>
      <p:sp>
        <p:nvSpPr>
          <p:cNvPr id="14" name="Shape 11"/>
          <p:cNvSpPr/>
          <p:nvPr/>
        </p:nvSpPr>
        <p:spPr>
          <a:xfrm>
            <a:off x="1143000" y="5509022"/>
            <a:ext cx="7829550" cy="2308622"/>
          </a:xfrm>
          <a:prstGeom prst="roundRect">
            <a:avLst>
              <a:gd name="adj" fmla="val 6601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5" name="Shape 12"/>
          <p:cNvSpPr/>
          <p:nvPr/>
        </p:nvSpPr>
        <p:spPr>
          <a:xfrm>
            <a:off x="1438275" y="6368058"/>
            <a:ext cx="590550" cy="5905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p/>
        </p:txBody>
      </p:sp>
      <p:sp>
        <p:nvSpPr>
          <p:cNvPr id="16" name="Text 13"/>
          <p:cNvSpPr/>
          <p:nvPr/>
        </p:nvSpPr>
        <p:spPr>
          <a:xfrm>
            <a:off x="1400175" y="6368058"/>
            <a:ext cx="6667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250" dirty="0"/>
          </a:p>
        </p:txBody>
      </p:sp>
      <p:sp>
        <p:nvSpPr>
          <p:cNvPr id="17" name="Text 14"/>
          <p:cNvSpPr/>
          <p:nvPr/>
        </p:nvSpPr>
        <p:spPr>
          <a:xfrm>
            <a:off x="2257425" y="5747147"/>
            <a:ext cx="6612446" cy="1870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 apply spatial clustering (Uber H3 Spatial Grids/K-Means) for risk-zone identification and a classifier (Random Forest/HistGradientBoosting) for risk scoring.</a:t>
            </a:r>
            <a:endParaRPr lang="en-US" sz="2775" dirty="0"/>
          </a:p>
        </p:txBody>
      </p:sp>
      <p:sp>
        <p:nvSpPr>
          <p:cNvPr id="18" name="Shape 15"/>
          <p:cNvSpPr/>
          <p:nvPr/>
        </p:nvSpPr>
        <p:spPr>
          <a:xfrm>
            <a:off x="9315450" y="5509022"/>
            <a:ext cx="7829550" cy="2308622"/>
          </a:xfrm>
          <a:prstGeom prst="roundRect">
            <a:avLst>
              <a:gd name="adj" fmla="val 6601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9" name="Shape 16"/>
          <p:cNvSpPr/>
          <p:nvPr/>
        </p:nvSpPr>
        <p:spPr>
          <a:xfrm>
            <a:off x="9610725" y="6368058"/>
            <a:ext cx="590550" cy="5905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p/>
        </p:txBody>
      </p:sp>
      <p:sp>
        <p:nvSpPr>
          <p:cNvPr id="20" name="Text 17"/>
          <p:cNvSpPr/>
          <p:nvPr/>
        </p:nvSpPr>
        <p:spPr>
          <a:xfrm>
            <a:off x="9572625" y="6368058"/>
            <a:ext cx="6667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2250" dirty="0"/>
          </a:p>
        </p:txBody>
      </p:sp>
      <p:sp>
        <p:nvSpPr>
          <p:cNvPr id="21" name="Text 18"/>
          <p:cNvSpPr/>
          <p:nvPr/>
        </p:nvSpPr>
        <p:spPr>
          <a:xfrm>
            <a:off x="10429875" y="5976193"/>
            <a:ext cx="6612446" cy="14123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 develop a real-time alert interface (React, Tailwind &amp; FastAPI) that warns users on approaching a high-risk zone.</a:t>
            </a:r>
            <a:endParaRPr lang="en-US" sz="2775" dirty="0"/>
          </a:p>
        </p:txBody>
      </p:sp>
      <p:sp>
        <p:nvSpPr>
          <p:cNvPr id="22" name="Shape 19"/>
          <p:cNvSpPr/>
          <p:nvPr/>
        </p:nvSpPr>
        <p:spPr>
          <a:xfrm>
            <a:off x="1143000" y="8046244"/>
            <a:ext cx="7829550" cy="1850529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23" name="Shape 20"/>
          <p:cNvSpPr/>
          <p:nvPr/>
        </p:nvSpPr>
        <p:spPr>
          <a:xfrm>
            <a:off x="1438275" y="8676233"/>
            <a:ext cx="590550" cy="5905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p/>
        </p:txBody>
      </p:sp>
      <p:sp>
        <p:nvSpPr>
          <p:cNvPr id="24" name="Text 21"/>
          <p:cNvSpPr/>
          <p:nvPr/>
        </p:nvSpPr>
        <p:spPr>
          <a:xfrm>
            <a:off x="1400175" y="8676233"/>
            <a:ext cx="6667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2250" dirty="0"/>
          </a:p>
        </p:txBody>
      </p:sp>
      <p:sp>
        <p:nvSpPr>
          <p:cNvPr id="25" name="Text 22"/>
          <p:cNvSpPr/>
          <p:nvPr/>
        </p:nvSpPr>
        <p:spPr>
          <a:xfrm>
            <a:off x="2257425" y="8284369"/>
            <a:ext cx="6612446" cy="14123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 evaluate using Silhouette score (clustering) and F1/precision-recall (risk classification), plus alert-latency testing.</a:t>
            </a:r>
            <a:endParaRPr lang="en-US" sz="2775" dirty="0"/>
          </a:p>
        </p:txBody>
      </p:sp>
      <p:sp>
        <p:nvSpPr>
          <p:cNvPr id="26" name="Shape 23"/>
          <p:cNvSpPr/>
          <p:nvPr/>
        </p:nvSpPr>
        <p:spPr>
          <a:xfrm>
            <a:off x="9315450" y="8046244"/>
            <a:ext cx="7829550" cy="1850529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27" name="Shape 24"/>
          <p:cNvSpPr/>
          <p:nvPr/>
        </p:nvSpPr>
        <p:spPr>
          <a:xfrm>
            <a:off x="9610725" y="8676233"/>
            <a:ext cx="590550" cy="5905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p/>
        </p:txBody>
      </p:sp>
      <p:sp>
        <p:nvSpPr>
          <p:cNvPr id="28" name="Text 25"/>
          <p:cNvSpPr/>
          <p:nvPr/>
        </p:nvSpPr>
        <p:spPr>
          <a:xfrm>
            <a:off x="9572625" y="8676233"/>
            <a:ext cx="6667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</a:t>
            </a:r>
            <a:endParaRPr lang="en-US" sz="2250" dirty="0"/>
          </a:p>
        </p:txBody>
      </p:sp>
      <p:sp>
        <p:nvSpPr>
          <p:cNvPr id="29" name="Text 26"/>
          <p:cNvSpPr/>
          <p:nvPr/>
        </p:nvSpPr>
        <p:spPr>
          <a:xfrm>
            <a:off x="10429875" y="8513415"/>
            <a:ext cx="6612446" cy="954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 compare clustering approaches (K-Means vs Uber H3 Spatial Grids vs heuristic black-spot method) and run a feature-ablation study.</a:t>
            </a:r>
            <a:endParaRPr lang="en-US" sz="2775" dirty="0"/>
          </a:p>
        </p:txBody>
      </p:sp>
      <p:sp>
        <p:nvSpPr>
          <p:cNvPr id="30" name="Text 27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8 / </a:t>
            </a:r>
            <a:r>
              <a:rPr lang="en-US" sz="1800" kern="0" spc="75" dirty="0" smtClean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60382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4" name="Text 1"/>
          <p:cNvSpPr/>
          <p:nvPr/>
        </p:nvSpPr>
        <p:spPr>
          <a:xfrm>
            <a:off x="8592108" y="1333500"/>
            <a:ext cx="171323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PIPELINE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5369808" y="1752600"/>
            <a:ext cx="7548384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Proposed Methodology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2857500"/>
            <a:ext cx="2731889" cy="9334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E2A55"/>
            </a:solidFill>
            <a:prstDash val="solid"/>
          </a:ln>
          <a:effectLst>
            <a:outerShdw blurRad="152400" dist="57150" dir="5400000" algn="bl" rotWithShape="0">
              <a:srgbClr val="141E3C">
                <a:alpha val="8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7" name="Text 4"/>
          <p:cNvSpPr/>
          <p:nvPr/>
        </p:nvSpPr>
        <p:spPr>
          <a:xfrm>
            <a:off x="1153091" y="3067050"/>
            <a:ext cx="271170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Accident + Live Data</a:t>
            </a:r>
            <a:endParaRPr lang="en-US" sz="1875" dirty="0"/>
          </a:p>
        </p:txBody>
      </p:sp>
      <p:sp>
        <p:nvSpPr>
          <p:cNvPr id="8" name="Text 5"/>
          <p:cNvSpPr/>
          <p:nvPr/>
        </p:nvSpPr>
        <p:spPr>
          <a:xfrm>
            <a:off x="1153091" y="3352800"/>
            <a:ext cx="271170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Input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951089" y="3100388"/>
            <a:ext cx="4572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→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4408289" y="2857500"/>
            <a:ext cx="2855268" cy="9334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E2A55"/>
            </a:solidFill>
            <a:prstDash val="solid"/>
          </a:ln>
          <a:effectLst>
            <a:outerShdw blurRad="152400" dist="57150" dir="5400000" algn="bl" rotWithShape="0">
              <a:srgbClr val="141E3C">
                <a:alpha val="8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1" name="Text 8"/>
          <p:cNvSpPr/>
          <p:nvPr/>
        </p:nvSpPr>
        <p:spPr>
          <a:xfrm>
            <a:off x="4412211" y="3067050"/>
            <a:ext cx="28474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Geocode + Preprocess</a:t>
            </a:r>
            <a:endParaRPr lang="en-US" sz="1875" dirty="0"/>
          </a:p>
        </p:txBody>
      </p:sp>
      <p:sp>
        <p:nvSpPr>
          <p:cNvPr id="12" name="Text 9"/>
          <p:cNvSpPr/>
          <p:nvPr/>
        </p:nvSpPr>
        <p:spPr>
          <a:xfrm>
            <a:off x="4412211" y="3352800"/>
            <a:ext cx="284742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Clean · geocode · merge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339757" y="3100388"/>
            <a:ext cx="4572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→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7796957" y="2857500"/>
            <a:ext cx="2855268" cy="933450"/>
          </a:xfrm>
          <a:prstGeom prst="roundRect">
            <a:avLst>
              <a:gd name="adj" fmla="val 14286"/>
            </a:avLst>
          </a:prstGeom>
          <a:solidFill>
            <a:srgbClr val="EEF1F8"/>
          </a:solidFill>
          <a:ln w="19050">
            <a:solidFill>
              <a:srgbClr val="1E2A55"/>
            </a:solidFill>
            <a:prstDash val="solid"/>
          </a:ln>
          <a:effectLst>
            <a:outerShdw blurRad="152400" dist="57150" dir="5400000" algn="bl" rotWithShape="0">
              <a:srgbClr val="141E3C">
                <a:alpha val="8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5" name="Text 12"/>
          <p:cNvSpPr/>
          <p:nvPr/>
        </p:nvSpPr>
        <p:spPr>
          <a:xfrm>
            <a:off x="7800878" y="3067050"/>
            <a:ext cx="28474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Uber H3 Grids + HistGradientBoosting</a:t>
            </a:r>
            <a:endParaRPr lang="en-US" sz="1875" dirty="0"/>
          </a:p>
        </p:txBody>
      </p:sp>
      <p:sp>
        <p:nvSpPr>
          <p:cNvPr id="16" name="Text 13"/>
          <p:cNvSpPr/>
          <p:nvPr/>
        </p:nvSpPr>
        <p:spPr>
          <a:xfrm>
            <a:off x="7800878" y="3352800"/>
            <a:ext cx="284742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Cluster + risk score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0728424" y="3100388"/>
            <a:ext cx="4572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→</a:t>
            </a:r>
            <a:endParaRPr lang="en-US" sz="3000" dirty="0"/>
          </a:p>
        </p:txBody>
      </p:sp>
      <p:sp>
        <p:nvSpPr>
          <p:cNvPr id="18" name="Shape 15"/>
          <p:cNvSpPr/>
          <p:nvPr/>
        </p:nvSpPr>
        <p:spPr>
          <a:xfrm>
            <a:off x="11185624" y="2876550"/>
            <a:ext cx="2693938" cy="895350"/>
          </a:xfrm>
          <a:prstGeom prst="roundRect">
            <a:avLst>
              <a:gd name="adj" fmla="val 14894"/>
            </a:avLst>
          </a:prstGeom>
          <a:solidFill>
            <a:srgbClr val="1E2A55"/>
          </a:solidFill>
          <a:ln/>
          <a:effectLst>
            <a:outerShdw blurRad="171450" dist="76200" dir="5400000" algn="bl" rotWithShape="0">
              <a:srgbClr val="141E3C">
                <a:alpha val="20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9" name="Text 16"/>
          <p:cNvSpPr/>
          <p:nvPr/>
        </p:nvSpPr>
        <p:spPr>
          <a:xfrm>
            <a:off x="11176657" y="3067050"/>
            <a:ext cx="271187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Risk Zone Map</a:t>
            </a:r>
            <a:endParaRPr lang="en-US" sz="1875" dirty="0"/>
          </a:p>
        </p:txBody>
      </p:sp>
      <p:sp>
        <p:nvSpPr>
          <p:cNvPr id="20" name="Text 17"/>
          <p:cNvSpPr/>
          <p:nvPr/>
        </p:nvSpPr>
        <p:spPr>
          <a:xfrm>
            <a:off x="11176657" y="3352800"/>
            <a:ext cx="271187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C9D2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Zone + severity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3955762" y="3100388"/>
            <a:ext cx="4572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→</a:t>
            </a:r>
            <a:endParaRPr lang="en-US" sz="3000" dirty="0"/>
          </a:p>
        </p:txBody>
      </p:sp>
      <p:sp>
        <p:nvSpPr>
          <p:cNvPr id="22" name="Shape 19"/>
          <p:cNvSpPr/>
          <p:nvPr/>
        </p:nvSpPr>
        <p:spPr>
          <a:xfrm>
            <a:off x="14412962" y="2857500"/>
            <a:ext cx="2732038" cy="9334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E2A55"/>
            </a:solidFill>
            <a:prstDash val="solid"/>
          </a:ln>
          <a:effectLst>
            <a:outerShdw blurRad="152400" dist="57150" dir="5400000" algn="bl" rotWithShape="0">
              <a:srgbClr val="141E3C">
                <a:alpha val="8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23" name="Text 20"/>
          <p:cNvSpPr/>
          <p:nvPr/>
        </p:nvSpPr>
        <p:spPr>
          <a:xfrm>
            <a:off x="14423045" y="3067050"/>
            <a:ext cx="271187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Alert Dashboard</a:t>
            </a:r>
            <a:endParaRPr lang="en-US" sz="1875" dirty="0"/>
          </a:p>
        </p:txBody>
      </p:sp>
      <p:sp>
        <p:nvSpPr>
          <p:cNvPr id="24" name="Text 21"/>
          <p:cNvSpPr/>
          <p:nvPr/>
        </p:nvSpPr>
        <p:spPr>
          <a:xfrm>
            <a:off x="14423045" y="3352800"/>
            <a:ext cx="271187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React &amp; FastAPI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1143000" y="4305300"/>
            <a:ext cx="8678317" cy="523875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26" name="Text 23"/>
          <p:cNvSpPr/>
          <p:nvPr/>
        </p:nvSpPr>
        <p:spPr>
          <a:xfrm>
            <a:off x="1476375" y="4581525"/>
            <a:ext cx="881272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b="1" kern="0" spc="150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PROCESS STEPS</a:t>
            </a:r>
            <a:endParaRPr lang="en-US" sz="1725" dirty="0"/>
          </a:p>
        </p:txBody>
      </p:sp>
      <p:sp>
        <p:nvSpPr>
          <p:cNvPr id="27" name="Text 24"/>
          <p:cNvSpPr/>
          <p:nvPr/>
        </p:nvSpPr>
        <p:spPr>
          <a:xfrm>
            <a:off x="1476375" y="5038725"/>
            <a:ext cx="4000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1.</a:t>
            </a:r>
            <a:endParaRPr lang="en-US" sz="2100" dirty="0"/>
          </a:p>
        </p:txBody>
      </p:sp>
      <p:sp>
        <p:nvSpPr>
          <p:cNvPr id="28" name="Text 25"/>
          <p:cNvSpPr/>
          <p:nvPr/>
        </p:nvSpPr>
        <p:spPr>
          <a:xfrm>
            <a:off x="1952625" y="5010150"/>
            <a:ext cx="487809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25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Collect &amp; geocode historical accident data.</a:t>
            </a:r>
            <a:endParaRPr lang="en-US" sz="2250" dirty="0"/>
          </a:p>
        </p:txBody>
      </p:sp>
      <p:sp>
        <p:nvSpPr>
          <p:cNvPr id="29" name="Text 26"/>
          <p:cNvSpPr/>
          <p:nvPr/>
        </p:nvSpPr>
        <p:spPr>
          <a:xfrm>
            <a:off x="1476375" y="5543550"/>
            <a:ext cx="4000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2.</a:t>
            </a:r>
            <a:endParaRPr lang="en-US" sz="2100" dirty="0"/>
          </a:p>
        </p:txBody>
      </p:sp>
      <p:sp>
        <p:nvSpPr>
          <p:cNvPr id="30" name="Text 27"/>
          <p:cNvSpPr/>
          <p:nvPr/>
        </p:nvSpPr>
        <p:spPr>
          <a:xfrm>
            <a:off x="1952625" y="5514975"/>
            <a:ext cx="821583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25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Cluster accident points into risk zones (Uber H3 Spatial Grids).</a:t>
            </a:r>
            <a:endParaRPr lang="en-US" sz="2250" dirty="0"/>
          </a:p>
        </p:txBody>
      </p:sp>
      <p:sp>
        <p:nvSpPr>
          <p:cNvPr id="31" name="Text 28"/>
          <p:cNvSpPr/>
          <p:nvPr/>
        </p:nvSpPr>
        <p:spPr>
          <a:xfrm>
            <a:off x="1476375" y="6048375"/>
            <a:ext cx="4000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3.</a:t>
            </a:r>
            <a:endParaRPr lang="en-US" sz="2100" dirty="0"/>
          </a:p>
        </p:txBody>
      </p:sp>
      <p:sp>
        <p:nvSpPr>
          <p:cNvPr id="32" name="Text 29"/>
          <p:cNvSpPr/>
          <p:nvPr/>
        </p:nvSpPr>
        <p:spPr>
          <a:xfrm>
            <a:off x="1952625" y="6019800"/>
            <a:ext cx="749992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25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Train classifier to score zone risk using contextual features.</a:t>
            </a:r>
            <a:endParaRPr lang="en-US" sz="2250" dirty="0"/>
          </a:p>
        </p:txBody>
      </p:sp>
      <p:sp>
        <p:nvSpPr>
          <p:cNvPr id="33" name="Text 30"/>
          <p:cNvSpPr/>
          <p:nvPr/>
        </p:nvSpPr>
        <p:spPr>
          <a:xfrm>
            <a:off x="1476375" y="6553200"/>
            <a:ext cx="4000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4.</a:t>
            </a:r>
            <a:endParaRPr lang="en-US" sz="2100" dirty="0"/>
          </a:p>
        </p:txBody>
      </p:sp>
      <p:sp>
        <p:nvSpPr>
          <p:cNvPr id="34" name="Text 31"/>
          <p:cNvSpPr/>
          <p:nvPr/>
        </p:nvSpPr>
        <p:spPr>
          <a:xfrm>
            <a:off x="1952625" y="6524625"/>
            <a:ext cx="7761376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25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Fuse with live GPS + weather feed.</a:t>
            </a:r>
            <a:endParaRPr lang="en-US" sz="2250" dirty="0"/>
          </a:p>
        </p:txBody>
      </p:sp>
      <p:sp>
        <p:nvSpPr>
          <p:cNvPr id="35" name="Text 32"/>
          <p:cNvSpPr/>
          <p:nvPr/>
        </p:nvSpPr>
        <p:spPr>
          <a:xfrm>
            <a:off x="1476375" y="7429500"/>
            <a:ext cx="4000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5.</a:t>
            </a:r>
            <a:endParaRPr lang="en-US" sz="2100" dirty="0"/>
          </a:p>
        </p:txBody>
      </p:sp>
      <p:sp>
        <p:nvSpPr>
          <p:cNvPr id="36" name="Text 33"/>
          <p:cNvSpPr/>
          <p:nvPr/>
        </p:nvSpPr>
        <p:spPr>
          <a:xfrm>
            <a:off x="1952625" y="7400925"/>
            <a:ext cx="732983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25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Trigger alert when the user approaches a high-risk zone; show on map dashboard.</a:t>
            </a:r>
            <a:endParaRPr lang="en-US" sz="2250" dirty="0"/>
          </a:p>
        </p:txBody>
      </p:sp>
      <p:sp>
        <p:nvSpPr>
          <p:cNvPr id="37" name="Shape 34"/>
          <p:cNvSpPr/>
          <p:nvPr/>
        </p:nvSpPr>
        <p:spPr>
          <a:xfrm>
            <a:off x="10202317" y="4305300"/>
            <a:ext cx="6942683" cy="5238750"/>
          </a:xfrm>
          <a:prstGeom prst="roundRect">
            <a:avLst>
              <a:gd name="adj" fmla="val 3273"/>
            </a:avLst>
          </a:prstGeom>
          <a:solidFill>
            <a:srgbClr val="1E2A55"/>
          </a:solidFill>
          <a:ln/>
          <a:effectLst>
            <a:outerShdw blurRad="228600" dist="95250" dir="5400000" algn="bl" rotWithShape="0">
              <a:srgbClr val="141E3C">
                <a:alpha val="20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38" name="Text 35"/>
          <p:cNvSpPr/>
          <p:nvPr/>
        </p:nvSpPr>
        <p:spPr>
          <a:xfrm>
            <a:off x="10507117" y="4552950"/>
            <a:ext cx="696639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b="1" kern="0" spc="150" dirty="0">
                <a:solidFill>
                  <a:srgbClr val="FF8A9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DATASETS &amp; TOOLS</a:t>
            </a:r>
            <a:endParaRPr lang="en-US" sz="1725" dirty="0"/>
          </a:p>
        </p:txBody>
      </p:sp>
      <p:sp>
        <p:nvSpPr>
          <p:cNvPr id="39" name="Shape 36"/>
          <p:cNvSpPr/>
          <p:nvPr/>
        </p:nvSpPr>
        <p:spPr>
          <a:xfrm>
            <a:off x="10507117" y="5343525"/>
            <a:ext cx="6333083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 wrap="square">
            <a:normAutofit/>
          </a:bodyPr>
          <a:p/>
        </p:txBody>
      </p:sp>
      <p:sp>
        <p:nvSpPr>
          <p:cNvPr id="40" name="Text 37"/>
          <p:cNvSpPr/>
          <p:nvPr/>
        </p:nvSpPr>
        <p:spPr>
          <a:xfrm>
            <a:off x="10507117" y="4962525"/>
            <a:ext cx="168491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9D2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D1 · Road Accident Records</a:t>
            </a:r>
            <a:endParaRPr lang="en-US" sz="1800" dirty="0"/>
          </a:p>
        </p:txBody>
      </p:sp>
      <p:sp>
        <p:nvSpPr>
          <p:cNvPr id="41" name="Text 38"/>
          <p:cNvSpPr/>
          <p:nvPr/>
        </p:nvSpPr>
        <p:spPr>
          <a:xfrm>
            <a:off x="13475449" y="4962525"/>
            <a:ext cx="336475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Govt / Kaggle RTA dataset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10507117" y="5848350"/>
            <a:ext cx="6333083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 wrap="square">
            <a:normAutofit/>
          </a:bodyPr>
          <a:p/>
        </p:txBody>
      </p:sp>
      <p:sp>
        <p:nvSpPr>
          <p:cNvPr id="43" name="Text 40"/>
          <p:cNvSpPr/>
          <p:nvPr/>
        </p:nvSpPr>
        <p:spPr>
          <a:xfrm>
            <a:off x="10507117" y="5467350"/>
            <a:ext cx="182554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9D2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D2 · Live Traffic &amp; Weather</a:t>
            </a:r>
            <a:endParaRPr lang="en-US" sz="1800" dirty="0"/>
          </a:p>
        </p:txBody>
      </p:sp>
      <p:sp>
        <p:nvSpPr>
          <p:cNvPr id="44" name="Text 41"/>
          <p:cNvSpPr/>
          <p:nvPr/>
        </p:nvSpPr>
        <p:spPr>
          <a:xfrm>
            <a:off x="13656513" y="5467350"/>
            <a:ext cx="318368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OpenWeather + traffic APIs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10507117" y="6353175"/>
            <a:ext cx="6333083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 wrap="square">
            <a:normAutofit/>
          </a:bodyPr>
          <a:p/>
        </p:txBody>
      </p:sp>
      <p:sp>
        <p:nvSpPr>
          <p:cNvPr id="46" name="Text 43"/>
          <p:cNvSpPr/>
          <p:nvPr/>
        </p:nvSpPr>
        <p:spPr>
          <a:xfrm>
            <a:off x="10507117" y="5972175"/>
            <a:ext cx="74369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9D2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Model</a:t>
            </a:r>
            <a:endParaRPr lang="en-US" sz="1800" dirty="0"/>
          </a:p>
        </p:txBody>
      </p:sp>
      <p:sp>
        <p:nvSpPr>
          <p:cNvPr id="47" name="Text 44"/>
          <p:cNvSpPr/>
          <p:nvPr/>
        </p:nvSpPr>
        <p:spPr>
          <a:xfrm>
            <a:off x="13576295" y="5972175"/>
            <a:ext cx="32639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Uber H3 Grids + HistGradientBoosting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10507117" y="6858000"/>
            <a:ext cx="6333083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 wrap="square">
            <a:normAutofit/>
          </a:bodyPr>
          <a:p/>
        </p:txBody>
      </p:sp>
      <p:sp>
        <p:nvSpPr>
          <p:cNvPr id="49" name="Text 46"/>
          <p:cNvSpPr/>
          <p:nvPr/>
        </p:nvSpPr>
        <p:spPr>
          <a:xfrm>
            <a:off x="10507117" y="6477000"/>
            <a:ext cx="13881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9D2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Framework</a:t>
            </a:r>
            <a:endParaRPr lang="en-US" sz="1800" dirty="0"/>
          </a:p>
        </p:txBody>
      </p:sp>
      <p:sp>
        <p:nvSpPr>
          <p:cNvPr id="50" name="Text 47"/>
          <p:cNvSpPr/>
          <p:nvPr/>
        </p:nvSpPr>
        <p:spPr>
          <a:xfrm>
            <a:off x="12660823" y="6477000"/>
            <a:ext cx="417937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Python · Scikit-learn · Leaflet · React &amp; FastAPI</a:t>
            </a:r>
            <a:endParaRPr lang="en-US" sz="1800" dirty="0"/>
          </a:p>
        </p:txBody>
      </p:sp>
      <p:sp>
        <p:nvSpPr>
          <p:cNvPr id="51" name="Text 48"/>
          <p:cNvSpPr/>
          <p:nvPr/>
        </p:nvSpPr>
        <p:spPr>
          <a:xfrm>
            <a:off x="10507117" y="6981825"/>
            <a:ext cx="102259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9D2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Platform</a:t>
            </a:r>
            <a:endParaRPr lang="en-US" sz="1800" dirty="0"/>
          </a:p>
        </p:txBody>
      </p:sp>
      <p:sp>
        <p:nvSpPr>
          <p:cNvPr id="52" name="Text 49"/>
          <p:cNvSpPr/>
          <p:nvPr/>
        </p:nvSpPr>
        <p:spPr>
          <a:xfrm>
            <a:off x="13762598" y="6981825"/>
            <a:ext cx="307760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Google Colab / local machine</a:t>
            </a:r>
            <a:endParaRPr lang="en-US" sz="1800" dirty="0"/>
          </a:p>
        </p:txBody>
      </p:sp>
      <p:sp>
        <p:nvSpPr>
          <p:cNvPr id="53" name="Text 50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 / </a:t>
            </a:r>
            <a:r>
              <a:rPr lang="en-US" sz="1800" kern="0" spc="75" dirty="0" smtClean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74670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4" name="Text 1"/>
          <p:cNvSpPr/>
          <p:nvPr/>
        </p:nvSpPr>
        <p:spPr>
          <a:xfrm>
            <a:off x="8607824" y="1333500"/>
            <a:ext cx="168180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NOVELTY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6275621" y="1752600"/>
            <a:ext cx="5736759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Our Contribution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2971800"/>
            <a:ext cx="5130701" cy="3939183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20955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7" name="Text 4"/>
          <p:cNvSpPr/>
          <p:nvPr/>
        </p:nvSpPr>
        <p:spPr>
          <a:xfrm>
            <a:off x="1457325" y="3305175"/>
            <a:ext cx="4952256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Proactive Alerts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457325" y="3829050"/>
            <a:ext cx="4637112" cy="27866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Unlike static hotspot maps, alerts are pushed live as a vehicle approaches a risk zone, using current time and weather context.</a:t>
            </a:r>
            <a:endParaRPr lang="en-US" sz="2775" dirty="0"/>
          </a:p>
        </p:txBody>
      </p:sp>
      <p:sp>
        <p:nvSpPr>
          <p:cNvPr id="9" name="Shape 6"/>
          <p:cNvSpPr/>
          <p:nvPr/>
        </p:nvSpPr>
        <p:spPr>
          <a:xfrm>
            <a:off x="6578501" y="2971800"/>
            <a:ext cx="5130850" cy="3939183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20955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0" name="Text 7"/>
          <p:cNvSpPr/>
          <p:nvPr/>
        </p:nvSpPr>
        <p:spPr>
          <a:xfrm>
            <a:off x="6892826" y="3305175"/>
            <a:ext cx="495242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Fused Risk Scoring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6892826" y="3829050"/>
            <a:ext cx="4637266" cy="23285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Combines spatial clustering with contextual classification instead of simple historical accident counting.</a:t>
            </a:r>
            <a:endParaRPr lang="en-US" sz="2775" dirty="0"/>
          </a:p>
        </p:txBody>
      </p:sp>
      <p:sp>
        <p:nvSpPr>
          <p:cNvPr id="12" name="Shape 9"/>
          <p:cNvSpPr/>
          <p:nvPr/>
        </p:nvSpPr>
        <p:spPr>
          <a:xfrm>
            <a:off x="12014150" y="2971800"/>
            <a:ext cx="5130850" cy="3939183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20955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3" name="Text 10"/>
          <p:cNvSpPr/>
          <p:nvPr/>
        </p:nvSpPr>
        <p:spPr>
          <a:xfrm>
            <a:off x="12328475" y="3305175"/>
            <a:ext cx="495242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Lightweight &amp; Accessible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12328475" y="3829050"/>
            <a:ext cx="4637266" cy="23285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 specialized telematics hardware — runs as a web/mobile dashboard usable by any GPS-enabled driver.</a:t>
            </a:r>
            <a:endParaRPr lang="en-US" sz="2775" dirty="0"/>
          </a:p>
        </p:txBody>
      </p:sp>
      <p:sp>
        <p:nvSpPr>
          <p:cNvPr id="15" name="Shape 12"/>
          <p:cNvSpPr/>
          <p:nvPr/>
        </p:nvSpPr>
        <p:spPr>
          <a:xfrm>
            <a:off x="1143000" y="7860209"/>
            <a:ext cx="16002000" cy="1721941"/>
          </a:xfrm>
          <a:prstGeom prst="roundRect">
            <a:avLst>
              <a:gd name="adj" fmla="val 9957"/>
            </a:avLst>
          </a:prstGeom>
          <a:solidFill>
            <a:srgbClr val="1E2A55"/>
          </a:solidFill>
          <a:ln/>
          <a:effectLst>
            <a:outerShdw blurRad="266700" dist="114300" dir="5400000" algn="bl" rotWithShape="0">
              <a:srgbClr val="141E3C">
                <a:alpha val="22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6" name="Text 13"/>
          <p:cNvSpPr/>
          <p:nvPr/>
        </p:nvSpPr>
        <p:spPr>
          <a:xfrm>
            <a:off x="1524000" y="8145959"/>
            <a:ext cx="167640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225" dirty="0">
                <a:solidFill>
                  <a:srgbClr val="FF8A9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NOVELTY STATEMENT</a:t>
            </a:r>
            <a:endParaRPr lang="en-US" sz="1650" dirty="0"/>
          </a:p>
        </p:txBody>
      </p:sp>
      <p:sp>
        <p:nvSpPr>
          <p:cNvPr id="17" name="Text 14"/>
          <p:cNvSpPr/>
          <p:nvPr/>
        </p:nvSpPr>
        <p:spPr>
          <a:xfrm>
            <a:off x="1524000" y="8469809"/>
            <a:ext cx="15697200" cy="8646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325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“Unlike static black-spot maps or hardware-heavy telematics systems, our lightweight AI pipeline fuses historical accident clustering with real-time contextual data to deliver proactive, location-aware safety alerts on any GPS-enabled device.”</a:t>
            </a:r>
            <a:endParaRPr lang="en-US" sz="2325" dirty="0"/>
          </a:p>
        </p:txBody>
      </p:sp>
      <p:sp>
        <p:nvSpPr>
          <p:cNvPr id="18" name="Text 15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10 / </a:t>
            </a:r>
            <a:r>
              <a:rPr lang="en-US" sz="1800" kern="0" spc="75" dirty="0" smtClean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695926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4" name="Text 1"/>
          <p:cNvSpPr/>
          <p:nvPr/>
        </p:nvSpPr>
        <p:spPr>
          <a:xfrm>
            <a:off x="7091206" y="1333500"/>
            <a:ext cx="471503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METHODS AND DATASETS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5709017" y="1752600"/>
            <a:ext cx="6869966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Planned Comparison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2971800"/>
            <a:ext cx="606623" cy="361950"/>
          </a:xfrm>
          <a:prstGeom prst="roundRect">
            <a:avLst>
              <a:gd name="adj" fmla="val 21053"/>
            </a:avLst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7" name="Text 4"/>
          <p:cNvSpPr/>
          <p:nvPr/>
        </p:nvSpPr>
        <p:spPr>
          <a:xfrm>
            <a:off x="1295400" y="3028950"/>
            <a:ext cx="37802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D1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1882973" y="3000375"/>
            <a:ext cx="406625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Historical Dataset · Accident Records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1143000" y="3467100"/>
            <a:ext cx="7781925" cy="2781300"/>
          </a:xfrm>
          <a:prstGeom prst="roundRect">
            <a:avLst>
              <a:gd name="adj" fmla="val 4110"/>
            </a:avLst>
          </a:prstGeom>
          <a:ln/>
          <a:effectLst>
            <a:outerShdw blurRad="209550" dist="76200" dir="5400000" algn="bl" rotWithShape="0">
              <a:srgbClr val="141E3C">
                <a:alpha val="10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0" name="Shape 7"/>
          <p:cNvSpPr/>
          <p:nvPr/>
        </p:nvSpPr>
        <p:spPr>
          <a:xfrm>
            <a:off x="1143000" y="3467100"/>
            <a:ext cx="7781925" cy="561975"/>
          </a:xfrm>
          <a:prstGeom prst="rect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p/>
        </p:txBody>
      </p:sp>
      <p:sp>
        <p:nvSpPr>
          <p:cNvPr id="11" name="Text 8"/>
          <p:cNvSpPr/>
          <p:nvPr/>
        </p:nvSpPr>
        <p:spPr>
          <a:xfrm>
            <a:off x="1314450" y="3609975"/>
            <a:ext cx="359259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Method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040064" y="3609975"/>
            <a:ext cx="112543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Silhouette ↑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317903" y="3609975"/>
            <a:ext cx="107706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Risk F1 ↑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547372" y="3609975"/>
            <a:ext cx="130135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Alert Latency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143000" y="4029075"/>
            <a:ext cx="7781925" cy="5524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>
            <a:normAutofit/>
          </a:bodyPr>
          <a:p/>
        </p:txBody>
      </p:sp>
      <p:sp>
        <p:nvSpPr>
          <p:cNvPr id="16" name="Text 13"/>
          <p:cNvSpPr/>
          <p:nvPr/>
        </p:nvSpPr>
        <p:spPr>
          <a:xfrm>
            <a:off x="1314450" y="4171950"/>
            <a:ext cx="35925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Heuristic Black-Spot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4935289" y="4038600"/>
            <a:ext cx="1334988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AA1B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TBD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213128" y="4038600"/>
            <a:ext cx="128661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AA1B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TBD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7442597" y="4038600"/>
            <a:ext cx="1510903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TBD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1143000" y="4581525"/>
            <a:ext cx="7781925" cy="552450"/>
          </a:xfrm>
          <a:prstGeom prst="rect">
            <a:avLst/>
          </a:prstGeom>
          <a:solidFill>
            <a:srgbClr val="F4F5F8"/>
          </a:solidFill>
          <a:ln/>
        </p:spPr>
        <p:txBody>
          <a:bodyPr wrap="square">
            <a:normAutofit/>
          </a:bodyPr>
          <a:p/>
        </p:txBody>
      </p:sp>
      <p:sp>
        <p:nvSpPr>
          <p:cNvPr id="21" name="Text 18"/>
          <p:cNvSpPr/>
          <p:nvPr/>
        </p:nvSpPr>
        <p:spPr>
          <a:xfrm>
            <a:off x="1314450" y="4724400"/>
            <a:ext cx="35925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K-Means Clustering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4935289" y="4591050"/>
            <a:ext cx="1334988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AA1B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TBD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6213128" y="4591050"/>
            <a:ext cx="128661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AA1B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TBD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7442597" y="4591050"/>
            <a:ext cx="1510903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TBD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1143000" y="5133975"/>
            <a:ext cx="7781925" cy="5524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>
            <a:normAutofit/>
          </a:bodyPr>
          <a:p/>
        </p:txBody>
      </p:sp>
      <p:sp>
        <p:nvSpPr>
          <p:cNvPr id="26" name="Text 23"/>
          <p:cNvSpPr/>
          <p:nvPr/>
        </p:nvSpPr>
        <p:spPr>
          <a:xfrm>
            <a:off x="1314450" y="5276850"/>
            <a:ext cx="35925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Uber H3 Spatial Grids Clustering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4935289" y="5143500"/>
            <a:ext cx="1334988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AA1B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TBD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6213128" y="5143500"/>
            <a:ext cx="128661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AA1B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TBD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7442597" y="5143500"/>
            <a:ext cx="1510903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TBD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1143000" y="5686425"/>
            <a:ext cx="7781925" cy="561975"/>
          </a:xfrm>
          <a:prstGeom prst="rect">
            <a:avLst/>
          </a:prstGeom>
          <a:solidFill>
            <a:srgbClr val="EEF1F8"/>
          </a:solidFill>
          <a:ln/>
        </p:spPr>
        <p:txBody>
          <a:bodyPr wrap="square">
            <a:normAutofit/>
          </a:bodyPr>
          <a:p/>
        </p:txBody>
      </p:sp>
      <p:sp>
        <p:nvSpPr>
          <p:cNvPr id="31" name="Text 28"/>
          <p:cNvSpPr/>
          <p:nvPr/>
        </p:nvSpPr>
        <p:spPr>
          <a:xfrm>
            <a:off x="1314450" y="5829300"/>
            <a:ext cx="359259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Proposed Uber H3 Spatial Grids+HistGradientBoosting (Ours)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4935289" y="5695950"/>
            <a:ext cx="1334988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TBD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6213128" y="5695950"/>
            <a:ext cx="1286619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TBD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7442597" y="5695950"/>
            <a:ext cx="1510903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TBD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9363075" y="2971800"/>
            <a:ext cx="606623" cy="361950"/>
          </a:xfrm>
          <a:prstGeom prst="roundRect">
            <a:avLst>
              <a:gd name="adj" fmla="val 21053"/>
            </a:avLst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36" name="Text 33"/>
          <p:cNvSpPr/>
          <p:nvPr/>
        </p:nvSpPr>
        <p:spPr>
          <a:xfrm>
            <a:off x="9515475" y="3028950"/>
            <a:ext cx="37802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D2</a:t>
            </a:r>
            <a:endParaRPr lang="en-US" sz="1650" dirty="0"/>
          </a:p>
        </p:txBody>
      </p:sp>
      <p:sp>
        <p:nvSpPr>
          <p:cNvPr id="37" name="Text 34"/>
          <p:cNvSpPr/>
          <p:nvPr/>
        </p:nvSpPr>
        <p:spPr>
          <a:xfrm>
            <a:off x="10103048" y="3000375"/>
            <a:ext cx="5180796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Live/Test Dataset · Cross-validation split</a:t>
            </a:r>
            <a:endParaRPr lang="en-US" sz="2100" dirty="0"/>
          </a:p>
        </p:txBody>
      </p:sp>
      <p:sp>
        <p:nvSpPr>
          <p:cNvPr id="38" name="Shape 35"/>
          <p:cNvSpPr/>
          <p:nvPr/>
        </p:nvSpPr>
        <p:spPr>
          <a:xfrm>
            <a:off x="9363075" y="3467100"/>
            <a:ext cx="7781925" cy="2781300"/>
          </a:xfrm>
          <a:prstGeom prst="roundRect">
            <a:avLst>
              <a:gd name="adj" fmla="val 4110"/>
            </a:avLst>
          </a:prstGeom>
          <a:ln/>
          <a:effectLst>
            <a:outerShdw blurRad="209550" dist="76200" dir="5400000" algn="bl" rotWithShape="0">
              <a:srgbClr val="141E3C">
                <a:alpha val="10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39" name="Shape 36"/>
          <p:cNvSpPr/>
          <p:nvPr/>
        </p:nvSpPr>
        <p:spPr>
          <a:xfrm>
            <a:off x="9363075" y="3467100"/>
            <a:ext cx="7781925" cy="561975"/>
          </a:xfrm>
          <a:prstGeom prst="rect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p/>
        </p:txBody>
      </p:sp>
      <p:sp>
        <p:nvSpPr>
          <p:cNvPr id="40" name="Text 37"/>
          <p:cNvSpPr/>
          <p:nvPr/>
        </p:nvSpPr>
        <p:spPr>
          <a:xfrm>
            <a:off x="9534525" y="3609975"/>
            <a:ext cx="359259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Method</a:t>
            </a:r>
            <a:endParaRPr lang="en-US" sz="1800" dirty="0"/>
          </a:p>
        </p:txBody>
      </p:sp>
      <p:sp>
        <p:nvSpPr>
          <p:cNvPr id="41" name="Text 38"/>
          <p:cNvSpPr/>
          <p:nvPr/>
        </p:nvSpPr>
        <p:spPr>
          <a:xfrm>
            <a:off x="13260139" y="3609975"/>
            <a:ext cx="112543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Silhouette ↑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4537978" y="3609975"/>
            <a:ext cx="107706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Risk F1 ↑</a:t>
            </a:r>
            <a:endParaRPr lang="en-US" sz="1800" dirty="0"/>
          </a:p>
        </p:txBody>
      </p:sp>
      <p:sp>
        <p:nvSpPr>
          <p:cNvPr id="43" name="Text 40"/>
          <p:cNvSpPr/>
          <p:nvPr/>
        </p:nvSpPr>
        <p:spPr>
          <a:xfrm>
            <a:off x="15767447" y="3609975"/>
            <a:ext cx="130135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Alert Latency</a:t>
            </a:r>
            <a:endParaRPr lang="en-US" sz="1800" dirty="0"/>
          </a:p>
        </p:txBody>
      </p:sp>
      <p:sp>
        <p:nvSpPr>
          <p:cNvPr id="44" name="Shape 41"/>
          <p:cNvSpPr/>
          <p:nvPr/>
        </p:nvSpPr>
        <p:spPr>
          <a:xfrm>
            <a:off x="9363075" y="4029075"/>
            <a:ext cx="7781925" cy="5524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>
            <a:normAutofit/>
          </a:bodyPr>
          <a:p/>
        </p:txBody>
      </p:sp>
      <p:sp>
        <p:nvSpPr>
          <p:cNvPr id="45" name="Text 42"/>
          <p:cNvSpPr/>
          <p:nvPr/>
        </p:nvSpPr>
        <p:spPr>
          <a:xfrm>
            <a:off x="9534525" y="4171950"/>
            <a:ext cx="35925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Heuristic Black-Spot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3155364" y="4038600"/>
            <a:ext cx="1334988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AA1B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TBD</a:t>
            </a:r>
            <a:endParaRPr lang="en-US" sz="1800" dirty="0"/>
          </a:p>
        </p:txBody>
      </p:sp>
      <p:sp>
        <p:nvSpPr>
          <p:cNvPr id="47" name="Text 44"/>
          <p:cNvSpPr/>
          <p:nvPr/>
        </p:nvSpPr>
        <p:spPr>
          <a:xfrm>
            <a:off x="14433203" y="4038600"/>
            <a:ext cx="128661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AA1B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TBD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15662672" y="4038600"/>
            <a:ext cx="1510903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TBD</a:t>
            </a:r>
            <a:endParaRPr lang="en-US" sz="1800" dirty="0"/>
          </a:p>
        </p:txBody>
      </p:sp>
      <p:sp>
        <p:nvSpPr>
          <p:cNvPr id="49" name="Shape 46"/>
          <p:cNvSpPr/>
          <p:nvPr/>
        </p:nvSpPr>
        <p:spPr>
          <a:xfrm>
            <a:off x="9363075" y="4581525"/>
            <a:ext cx="7781925" cy="552450"/>
          </a:xfrm>
          <a:prstGeom prst="rect">
            <a:avLst/>
          </a:prstGeom>
          <a:solidFill>
            <a:srgbClr val="F4F5F8"/>
          </a:solidFill>
          <a:ln/>
        </p:spPr>
        <p:txBody>
          <a:bodyPr wrap="square">
            <a:normAutofit/>
          </a:bodyPr>
          <a:p/>
        </p:txBody>
      </p:sp>
      <p:sp>
        <p:nvSpPr>
          <p:cNvPr id="50" name="Text 47"/>
          <p:cNvSpPr/>
          <p:nvPr/>
        </p:nvSpPr>
        <p:spPr>
          <a:xfrm>
            <a:off x="9534525" y="4724400"/>
            <a:ext cx="35925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K-Means Clustering</a:t>
            </a:r>
            <a:endParaRPr lang="en-US" sz="1800" dirty="0"/>
          </a:p>
        </p:txBody>
      </p:sp>
      <p:sp>
        <p:nvSpPr>
          <p:cNvPr id="51" name="Text 48"/>
          <p:cNvSpPr/>
          <p:nvPr/>
        </p:nvSpPr>
        <p:spPr>
          <a:xfrm>
            <a:off x="13155364" y="4591050"/>
            <a:ext cx="1334988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AA1B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TBD</a:t>
            </a:r>
            <a:endParaRPr lang="en-US" sz="1800" dirty="0"/>
          </a:p>
        </p:txBody>
      </p:sp>
      <p:sp>
        <p:nvSpPr>
          <p:cNvPr id="52" name="Text 49"/>
          <p:cNvSpPr/>
          <p:nvPr/>
        </p:nvSpPr>
        <p:spPr>
          <a:xfrm>
            <a:off x="14433203" y="4591050"/>
            <a:ext cx="128661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AA1B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TBD</a:t>
            </a:r>
            <a:endParaRPr lang="en-US" sz="1800" dirty="0"/>
          </a:p>
        </p:txBody>
      </p:sp>
      <p:sp>
        <p:nvSpPr>
          <p:cNvPr id="53" name="Text 50"/>
          <p:cNvSpPr/>
          <p:nvPr/>
        </p:nvSpPr>
        <p:spPr>
          <a:xfrm>
            <a:off x="15662672" y="4591050"/>
            <a:ext cx="1510903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TBD</a:t>
            </a:r>
            <a:endParaRPr lang="en-US" sz="1800" dirty="0"/>
          </a:p>
        </p:txBody>
      </p:sp>
      <p:sp>
        <p:nvSpPr>
          <p:cNvPr id="54" name="Shape 51"/>
          <p:cNvSpPr/>
          <p:nvPr/>
        </p:nvSpPr>
        <p:spPr>
          <a:xfrm>
            <a:off x="9363075" y="5133975"/>
            <a:ext cx="7781925" cy="5524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>
            <a:normAutofit/>
          </a:bodyPr>
          <a:p/>
        </p:txBody>
      </p:sp>
      <p:sp>
        <p:nvSpPr>
          <p:cNvPr id="55" name="Text 52"/>
          <p:cNvSpPr/>
          <p:nvPr/>
        </p:nvSpPr>
        <p:spPr>
          <a:xfrm>
            <a:off x="9534525" y="5276850"/>
            <a:ext cx="35925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Uber H3 Spatial Grids Clustering</a:t>
            </a:r>
            <a:endParaRPr lang="en-US" sz="1800" dirty="0"/>
          </a:p>
        </p:txBody>
      </p:sp>
      <p:sp>
        <p:nvSpPr>
          <p:cNvPr id="56" name="Text 53"/>
          <p:cNvSpPr/>
          <p:nvPr/>
        </p:nvSpPr>
        <p:spPr>
          <a:xfrm>
            <a:off x="13155364" y="5143500"/>
            <a:ext cx="1334988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AA1B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TBD</a:t>
            </a:r>
            <a:endParaRPr lang="en-US" sz="1800" dirty="0"/>
          </a:p>
        </p:txBody>
      </p:sp>
      <p:sp>
        <p:nvSpPr>
          <p:cNvPr id="57" name="Text 54"/>
          <p:cNvSpPr/>
          <p:nvPr/>
        </p:nvSpPr>
        <p:spPr>
          <a:xfrm>
            <a:off x="14433203" y="5143500"/>
            <a:ext cx="128661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AA1B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TBD</a:t>
            </a:r>
            <a:endParaRPr lang="en-US" sz="1800" dirty="0"/>
          </a:p>
        </p:txBody>
      </p:sp>
      <p:sp>
        <p:nvSpPr>
          <p:cNvPr id="58" name="Text 55"/>
          <p:cNvSpPr/>
          <p:nvPr/>
        </p:nvSpPr>
        <p:spPr>
          <a:xfrm>
            <a:off x="15662672" y="5143500"/>
            <a:ext cx="1510903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TBD</a:t>
            </a:r>
            <a:endParaRPr lang="en-US" sz="1800" dirty="0"/>
          </a:p>
        </p:txBody>
      </p:sp>
      <p:sp>
        <p:nvSpPr>
          <p:cNvPr id="59" name="Shape 56"/>
          <p:cNvSpPr/>
          <p:nvPr/>
        </p:nvSpPr>
        <p:spPr>
          <a:xfrm>
            <a:off x="9363075" y="5686425"/>
            <a:ext cx="7781925" cy="561975"/>
          </a:xfrm>
          <a:prstGeom prst="rect">
            <a:avLst/>
          </a:prstGeom>
          <a:solidFill>
            <a:srgbClr val="EEF1F8"/>
          </a:solidFill>
          <a:ln/>
        </p:spPr>
        <p:txBody>
          <a:bodyPr wrap="square">
            <a:normAutofit/>
          </a:bodyPr>
          <a:p/>
        </p:txBody>
      </p:sp>
      <p:sp>
        <p:nvSpPr>
          <p:cNvPr id="60" name="Text 57"/>
          <p:cNvSpPr/>
          <p:nvPr/>
        </p:nvSpPr>
        <p:spPr>
          <a:xfrm>
            <a:off x="9534525" y="5829300"/>
            <a:ext cx="359259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Proposed Uber H3 Spatial Grids+HistGradientBoosting (Ours)</a:t>
            </a:r>
            <a:endParaRPr lang="en-US" sz="1800" dirty="0"/>
          </a:p>
        </p:txBody>
      </p:sp>
      <p:sp>
        <p:nvSpPr>
          <p:cNvPr id="61" name="Text 58"/>
          <p:cNvSpPr/>
          <p:nvPr/>
        </p:nvSpPr>
        <p:spPr>
          <a:xfrm>
            <a:off x="13155364" y="5695950"/>
            <a:ext cx="1334988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TBD</a:t>
            </a:r>
            <a:endParaRPr lang="en-US" sz="1800" dirty="0"/>
          </a:p>
        </p:txBody>
      </p:sp>
      <p:sp>
        <p:nvSpPr>
          <p:cNvPr id="62" name="Text 59"/>
          <p:cNvSpPr/>
          <p:nvPr/>
        </p:nvSpPr>
        <p:spPr>
          <a:xfrm>
            <a:off x="14433203" y="5695950"/>
            <a:ext cx="1286619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TBD</a:t>
            </a:r>
            <a:endParaRPr lang="en-US" sz="1800" dirty="0"/>
          </a:p>
        </p:txBody>
      </p:sp>
      <p:sp>
        <p:nvSpPr>
          <p:cNvPr id="63" name="Text 60"/>
          <p:cNvSpPr/>
          <p:nvPr/>
        </p:nvSpPr>
        <p:spPr>
          <a:xfrm>
            <a:off x="15662672" y="5695950"/>
            <a:ext cx="1510903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TBD</a:t>
            </a:r>
            <a:endParaRPr lang="en-US" sz="1800" dirty="0"/>
          </a:p>
        </p:txBody>
      </p:sp>
      <p:sp>
        <p:nvSpPr>
          <p:cNvPr id="64" name="Shape 61"/>
          <p:cNvSpPr/>
          <p:nvPr/>
        </p:nvSpPr>
        <p:spPr>
          <a:xfrm>
            <a:off x="1143000" y="9310688"/>
            <a:ext cx="133350" cy="133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65" name="Text 62"/>
          <p:cNvSpPr/>
          <p:nvPr/>
        </p:nvSpPr>
        <p:spPr>
          <a:xfrm>
            <a:off x="1428750" y="9229725"/>
            <a:ext cx="1183302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Higher Silhouette and F1 are better; lower alert latency is better. </a:t>
            </a:r>
            <a:r>
              <a:rPr lang="en-US" sz="195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Results to be filled in Review 2.</a:t>
            </a:r>
            <a:endParaRPr lang="en-US" sz="1950" dirty="0"/>
          </a:p>
        </p:txBody>
      </p:sp>
      <p:sp>
        <p:nvSpPr>
          <p:cNvPr id="66" name="Text 63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11 / </a:t>
            </a:r>
            <a:r>
              <a:rPr lang="en-US" sz="1800" kern="0" spc="75" dirty="0" smtClean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860506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4" name="Text 1"/>
          <p:cNvSpPr/>
          <p:nvPr/>
        </p:nvSpPr>
        <p:spPr>
          <a:xfrm>
            <a:off x="8372237" y="1333500"/>
            <a:ext cx="215312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WORK PLAN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5044187" y="1752600"/>
            <a:ext cx="8199626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Team Roles &amp; Work Plan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628775" y="3524250"/>
            <a:ext cx="38100" cy="1314450"/>
          </a:xfrm>
          <a:prstGeom prst="rect">
            <a:avLst/>
          </a:prstGeom>
          <a:solidFill>
            <a:srgbClr val="D7DCE6"/>
          </a:solidFill>
          <a:ln/>
        </p:spPr>
        <p:txBody>
          <a:bodyPr wrap="square">
            <a:normAutofit/>
          </a:bodyPr>
          <a:p/>
        </p:txBody>
      </p:sp>
      <p:sp>
        <p:nvSpPr>
          <p:cNvPr id="7" name="Shape 4"/>
          <p:cNvSpPr/>
          <p:nvPr/>
        </p:nvSpPr>
        <p:spPr>
          <a:xfrm>
            <a:off x="1333500" y="3400425"/>
            <a:ext cx="628650" cy="6286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p/>
        </p:txBody>
      </p:sp>
      <p:sp>
        <p:nvSpPr>
          <p:cNvPr id="8" name="Text 5"/>
          <p:cNvSpPr/>
          <p:nvPr/>
        </p:nvSpPr>
        <p:spPr>
          <a:xfrm>
            <a:off x="1553468" y="3548063"/>
            <a:ext cx="26491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250" dirty="0"/>
          </a:p>
        </p:txBody>
      </p:sp>
      <p:sp>
        <p:nvSpPr>
          <p:cNvPr id="9" name="Shape 6"/>
          <p:cNvSpPr/>
          <p:nvPr/>
        </p:nvSpPr>
        <p:spPr>
          <a:xfrm>
            <a:off x="2247900" y="3143250"/>
            <a:ext cx="14897100" cy="114300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52400" dist="5715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0" name="Text 7"/>
          <p:cNvSpPr/>
          <p:nvPr/>
        </p:nvSpPr>
        <p:spPr>
          <a:xfrm>
            <a:off x="2524125" y="3343275"/>
            <a:ext cx="254636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Navadeep</a:t>
            </a:r>
            <a:endParaRPr lang="en-US" sz="2175" dirty="0"/>
          </a:p>
        </p:txBody>
      </p:sp>
      <p:sp>
        <p:nvSpPr>
          <p:cNvPr id="11" name="Text 8"/>
          <p:cNvSpPr/>
          <p:nvPr/>
        </p:nvSpPr>
        <p:spPr>
          <a:xfrm>
            <a:off x="2524125" y="3705225"/>
            <a:ext cx="8648849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Data collection, cleaning &amp; geocoding of accident records</a:t>
            </a:r>
            <a:endParaRPr lang="en-US" sz="2550" dirty="0"/>
          </a:p>
        </p:txBody>
      </p:sp>
      <p:sp>
        <p:nvSpPr>
          <p:cNvPr id="12" name="Shape 9"/>
          <p:cNvSpPr/>
          <p:nvPr/>
        </p:nvSpPr>
        <p:spPr>
          <a:xfrm>
            <a:off x="15277951" y="3476625"/>
            <a:ext cx="1590824" cy="476250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/>
        </p:spPr>
        <p:txBody>
          <a:bodyPr wrap="square">
            <a:normAutofit/>
          </a:bodyPr>
          <a:p/>
        </p:txBody>
      </p:sp>
      <p:sp>
        <p:nvSpPr>
          <p:cNvPr id="13" name="Text 10"/>
          <p:cNvSpPr/>
          <p:nvPr/>
        </p:nvSpPr>
        <p:spPr>
          <a:xfrm>
            <a:off x="15487501" y="3571875"/>
            <a:ext cx="12479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Week 1–3</a:t>
            </a:r>
            <a:endParaRPr lang="en-US" sz="1875" dirty="0"/>
          </a:p>
        </p:txBody>
      </p:sp>
      <p:sp>
        <p:nvSpPr>
          <p:cNvPr id="14" name="Shape 11"/>
          <p:cNvSpPr/>
          <p:nvPr/>
        </p:nvSpPr>
        <p:spPr>
          <a:xfrm>
            <a:off x="1333500" y="4892725"/>
            <a:ext cx="628650" cy="6286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p/>
        </p:txBody>
      </p:sp>
      <p:sp>
        <p:nvSpPr>
          <p:cNvPr id="15" name="Text 12"/>
          <p:cNvSpPr/>
          <p:nvPr/>
        </p:nvSpPr>
        <p:spPr>
          <a:xfrm>
            <a:off x="1553468" y="5040362"/>
            <a:ext cx="26491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250" dirty="0"/>
          </a:p>
        </p:txBody>
      </p:sp>
      <p:sp>
        <p:nvSpPr>
          <p:cNvPr id="16" name="Shape 13"/>
          <p:cNvSpPr/>
          <p:nvPr/>
        </p:nvSpPr>
        <p:spPr>
          <a:xfrm>
            <a:off x="2247900" y="4635550"/>
            <a:ext cx="14897100" cy="114300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52400" dist="5715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7" name="Text 14"/>
          <p:cNvSpPr/>
          <p:nvPr/>
        </p:nvSpPr>
        <p:spPr>
          <a:xfrm>
            <a:off x="2524125" y="4835575"/>
            <a:ext cx="254636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Team Member 2</a:t>
            </a:r>
            <a:endParaRPr lang="en-US" sz="2175" dirty="0"/>
          </a:p>
        </p:txBody>
      </p:sp>
      <p:sp>
        <p:nvSpPr>
          <p:cNvPr id="18" name="Text 15"/>
          <p:cNvSpPr/>
          <p:nvPr/>
        </p:nvSpPr>
        <p:spPr>
          <a:xfrm>
            <a:off x="2524125" y="5197525"/>
            <a:ext cx="8135942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Clustering &amp; risk-classification model design, training &amp; evaluation</a:t>
            </a:r>
            <a:endParaRPr lang="en-US" sz="2550" dirty="0"/>
          </a:p>
        </p:txBody>
      </p:sp>
      <p:sp>
        <p:nvSpPr>
          <p:cNvPr id="19" name="Shape 16"/>
          <p:cNvSpPr/>
          <p:nvPr/>
        </p:nvSpPr>
        <p:spPr>
          <a:xfrm>
            <a:off x="15277951" y="4968925"/>
            <a:ext cx="1590824" cy="476250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/>
        </p:spPr>
        <p:txBody>
          <a:bodyPr wrap="square">
            <a:normAutofit/>
          </a:bodyPr>
          <a:p/>
        </p:txBody>
      </p:sp>
      <p:sp>
        <p:nvSpPr>
          <p:cNvPr id="20" name="Text 17"/>
          <p:cNvSpPr/>
          <p:nvPr/>
        </p:nvSpPr>
        <p:spPr>
          <a:xfrm>
            <a:off x="15487501" y="5064175"/>
            <a:ext cx="12479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Week 3–7</a:t>
            </a:r>
            <a:endParaRPr lang="en-US" sz="1875" dirty="0"/>
          </a:p>
        </p:txBody>
      </p:sp>
      <p:sp>
        <p:nvSpPr>
          <p:cNvPr id="21" name="Shape 18"/>
          <p:cNvSpPr/>
          <p:nvPr/>
        </p:nvSpPr>
        <p:spPr>
          <a:xfrm>
            <a:off x="1333500" y="6384875"/>
            <a:ext cx="628650" cy="6286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p/>
        </p:txBody>
      </p:sp>
      <p:sp>
        <p:nvSpPr>
          <p:cNvPr id="22" name="Text 19"/>
          <p:cNvSpPr/>
          <p:nvPr/>
        </p:nvSpPr>
        <p:spPr>
          <a:xfrm>
            <a:off x="1553468" y="6532513"/>
            <a:ext cx="26491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250" dirty="0"/>
          </a:p>
        </p:txBody>
      </p:sp>
      <p:sp>
        <p:nvSpPr>
          <p:cNvPr id="23" name="Shape 20"/>
          <p:cNvSpPr/>
          <p:nvPr/>
        </p:nvSpPr>
        <p:spPr>
          <a:xfrm>
            <a:off x="2247900" y="6127700"/>
            <a:ext cx="14897100" cy="114300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52400" dist="5715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24" name="Text 21"/>
          <p:cNvSpPr/>
          <p:nvPr/>
        </p:nvSpPr>
        <p:spPr>
          <a:xfrm>
            <a:off x="2524125" y="6327725"/>
            <a:ext cx="254636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Team Member 3</a:t>
            </a:r>
            <a:endParaRPr lang="en-US" sz="2175" dirty="0"/>
          </a:p>
        </p:txBody>
      </p:sp>
      <p:sp>
        <p:nvSpPr>
          <p:cNvPr id="25" name="Text 22"/>
          <p:cNvSpPr/>
          <p:nvPr/>
        </p:nvSpPr>
        <p:spPr>
          <a:xfrm>
            <a:off x="2524125" y="6689675"/>
            <a:ext cx="6639624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Real-time alert web interface (React, Tailwind &amp; FastAPI) + integration</a:t>
            </a:r>
            <a:endParaRPr lang="en-US" sz="2550" dirty="0"/>
          </a:p>
        </p:txBody>
      </p:sp>
      <p:sp>
        <p:nvSpPr>
          <p:cNvPr id="26" name="Shape 23"/>
          <p:cNvSpPr/>
          <p:nvPr/>
        </p:nvSpPr>
        <p:spPr>
          <a:xfrm>
            <a:off x="15277951" y="6461075"/>
            <a:ext cx="1590824" cy="476250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/>
        </p:spPr>
        <p:txBody>
          <a:bodyPr wrap="square">
            <a:normAutofit/>
          </a:bodyPr>
          <a:p/>
        </p:txBody>
      </p:sp>
      <p:sp>
        <p:nvSpPr>
          <p:cNvPr id="27" name="Text 24"/>
          <p:cNvSpPr/>
          <p:nvPr/>
        </p:nvSpPr>
        <p:spPr>
          <a:xfrm>
            <a:off x="15487501" y="6556325"/>
            <a:ext cx="12479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Week 5–9</a:t>
            </a:r>
            <a:endParaRPr lang="en-US" sz="1875" dirty="0"/>
          </a:p>
        </p:txBody>
      </p:sp>
      <p:sp>
        <p:nvSpPr>
          <p:cNvPr id="28" name="Shape 25"/>
          <p:cNvSpPr/>
          <p:nvPr/>
        </p:nvSpPr>
        <p:spPr>
          <a:xfrm>
            <a:off x="1333500" y="7877175"/>
            <a:ext cx="628650" cy="6286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p/>
        </p:txBody>
      </p:sp>
      <p:sp>
        <p:nvSpPr>
          <p:cNvPr id="29" name="Text 26"/>
          <p:cNvSpPr/>
          <p:nvPr/>
        </p:nvSpPr>
        <p:spPr>
          <a:xfrm>
            <a:off x="1553468" y="8024812"/>
            <a:ext cx="26491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2250" dirty="0"/>
          </a:p>
        </p:txBody>
      </p:sp>
      <p:sp>
        <p:nvSpPr>
          <p:cNvPr id="30" name="Shape 27"/>
          <p:cNvSpPr/>
          <p:nvPr/>
        </p:nvSpPr>
        <p:spPr>
          <a:xfrm>
            <a:off x="2247900" y="7620000"/>
            <a:ext cx="14897100" cy="114300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52400" dist="5715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31" name="Text 28"/>
          <p:cNvSpPr/>
          <p:nvPr/>
        </p:nvSpPr>
        <p:spPr>
          <a:xfrm>
            <a:off x="2524125" y="7820025"/>
            <a:ext cx="254636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Team Member 4</a:t>
            </a:r>
            <a:endParaRPr lang="en-US" sz="2175" dirty="0"/>
          </a:p>
        </p:txBody>
      </p:sp>
      <p:sp>
        <p:nvSpPr>
          <p:cNvPr id="32" name="Text 29"/>
          <p:cNvSpPr/>
          <p:nvPr/>
        </p:nvSpPr>
        <p:spPr>
          <a:xfrm>
            <a:off x="2524125" y="8181975"/>
            <a:ext cx="7551822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data integration (weather/traffic API), testing &amp; ablation</a:t>
            </a:r>
            <a:endParaRPr lang="en-US" sz="2550" dirty="0"/>
          </a:p>
        </p:txBody>
      </p:sp>
      <p:sp>
        <p:nvSpPr>
          <p:cNvPr id="33" name="Shape 30"/>
          <p:cNvSpPr/>
          <p:nvPr/>
        </p:nvSpPr>
        <p:spPr>
          <a:xfrm>
            <a:off x="15120789" y="7953375"/>
            <a:ext cx="1747986" cy="476250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/>
        </p:spPr>
        <p:txBody>
          <a:bodyPr wrap="square">
            <a:normAutofit/>
          </a:bodyPr>
          <a:p/>
        </p:txBody>
      </p:sp>
      <p:sp>
        <p:nvSpPr>
          <p:cNvPr id="34" name="Text 31"/>
          <p:cNvSpPr/>
          <p:nvPr/>
        </p:nvSpPr>
        <p:spPr>
          <a:xfrm>
            <a:off x="15330339" y="8048625"/>
            <a:ext cx="140508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Week 7–11</a:t>
            </a:r>
            <a:endParaRPr lang="en-US" sz="1875" dirty="0"/>
          </a:p>
        </p:txBody>
      </p:sp>
      <p:sp>
        <p:nvSpPr>
          <p:cNvPr id="35" name="Shape 32"/>
          <p:cNvSpPr/>
          <p:nvPr/>
        </p:nvSpPr>
        <p:spPr>
          <a:xfrm>
            <a:off x="1143000" y="8896350"/>
            <a:ext cx="16002000" cy="685800"/>
          </a:xfrm>
          <a:prstGeom prst="roundRect">
            <a:avLst>
              <a:gd name="adj" fmla="val 16667"/>
            </a:avLst>
          </a:prstGeom>
          <a:solidFill>
            <a:srgbClr val="EEF1F8"/>
          </a:solidFill>
          <a:ln/>
        </p:spPr>
        <p:txBody>
          <a:bodyPr wrap="square">
            <a:normAutofit/>
          </a:bodyPr>
          <a:p/>
        </p:txBody>
      </p:sp>
      <p:sp>
        <p:nvSpPr>
          <p:cNvPr id="36" name="Shape 33"/>
          <p:cNvSpPr/>
          <p:nvPr/>
        </p:nvSpPr>
        <p:spPr>
          <a:xfrm>
            <a:off x="1143000" y="8896350"/>
            <a:ext cx="76200" cy="685800"/>
          </a:xfrm>
          <a:prstGeom prst="rect">
            <a:avLst/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37" name="Text 34"/>
          <p:cNvSpPr/>
          <p:nvPr/>
        </p:nvSpPr>
        <p:spPr>
          <a:xfrm>
            <a:off x="1504950" y="9086850"/>
            <a:ext cx="1688973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All modules are integrated and tested jointly in </a:t>
            </a:r>
            <a:r>
              <a:rPr lang="en-US" sz="202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Weeks 10–12 </a:t>
            </a:r>
            <a:r>
              <a:rPr lang="en-US" sz="20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before the final review.</a:t>
            </a:r>
            <a:endParaRPr lang="en-US" sz="2025" dirty="0"/>
          </a:p>
        </p:txBody>
      </p:sp>
      <p:sp>
        <p:nvSpPr>
          <p:cNvPr id="38" name="Text 35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75" dirty="0" smtClean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12 </a:t>
            </a: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/ </a:t>
            </a:r>
            <a:r>
              <a:rPr lang="en-US" sz="1800" kern="0" spc="75" dirty="0" smtClean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681764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4" name="Text 1"/>
          <p:cNvSpPr/>
          <p:nvPr/>
        </p:nvSpPr>
        <p:spPr>
          <a:xfrm>
            <a:off x="8175627" y="1333500"/>
            <a:ext cx="254619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IEEE FORMAT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7312238" y="1752600"/>
            <a:ext cx="3663523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References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2724150"/>
            <a:ext cx="16002000" cy="11715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33350" dist="47625" dir="5400000" algn="bl" rotWithShape="0">
              <a:srgbClr val="141E3C">
                <a:alpha val="5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7" name="Text 4"/>
          <p:cNvSpPr/>
          <p:nvPr/>
        </p:nvSpPr>
        <p:spPr>
          <a:xfrm>
            <a:off x="1438275" y="2876550"/>
            <a:ext cx="5143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[1]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2105025" y="2876550"/>
            <a:ext cx="15187041" cy="904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"Road accident prediction and model interpretation using a hybrid k-means and random forest algorithm approach," </a:t>
            </a:r>
            <a:r>
              <a:rPr lang="en-US" sz="2625" i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SN Applied Sciences </a:t>
            </a: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, vol. 2, pp. 1–13, 2020.</a:t>
            </a:r>
            <a:endParaRPr lang="en-US" sz="2625" dirty="0"/>
          </a:p>
        </p:txBody>
      </p:sp>
      <p:sp>
        <p:nvSpPr>
          <p:cNvPr id="9" name="Shape 6"/>
          <p:cNvSpPr/>
          <p:nvPr/>
        </p:nvSpPr>
        <p:spPr>
          <a:xfrm>
            <a:off x="1143000" y="4019550"/>
            <a:ext cx="16002000" cy="11715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33350" dist="47625" dir="5400000" algn="bl" rotWithShape="0">
              <a:srgbClr val="141E3C">
                <a:alpha val="5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0" name="Text 7"/>
          <p:cNvSpPr/>
          <p:nvPr/>
        </p:nvSpPr>
        <p:spPr>
          <a:xfrm>
            <a:off x="1438275" y="4171950"/>
            <a:ext cx="5143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[2]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2105025" y="4171950"/>
            <a:ext cx="15187041" cy="904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"Estimation of road accident risk with machine learning," </a:t>
            </a:r>
            <a:r>
              <a:rPr lang="en-US" sz="2625" i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Ph.D. dissertation, Concordia University </a:t>
            </a: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, 2020.</a:t>
            </a:r>
            <a:endParaRPr lang="en-US" sz="2625" dirty="0"/>
          </a:p>
        </p:txBody>
      </p:sp>
      <p:sp>
        <p:nvSpPr>
          <p:cNvPr id="12" name="Shape 9"/>
          <p:cNvSpPr/>
          <p:nvPr/>
        </p:nvSpPr>
        <p:spPr>
          <a:xfrm>
            <a:off x="1143000" y="5314950"/>
            <a:ext cx="16002000" cy="11715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33350" dist="47625" dir="5400000" algn="bl" rotWithShape="0">
              <a:srgbClr val="141E3C">
                <a:alpha val="5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3" name="Text 10"/>
          <p:cNvSpPr/>
          <p:nvPr/>
        </p:nvSpPr>
        <p:spPr>
          <a:xfrm>
            <a:off x="1438275" y="5467350"/>
            <a:ext cx="5143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[3]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2105025" y="5467350"/>
            <a:ext cx="15187041" cy="904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/>
            </a:r>
            <a:r>
              <a:rPr lang="en-US" sz="2625" i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/>
            </a: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"A Machine Learning Approach for Classifying Road Accident Hotspots," </a:t>
            </a:r>
            <a:r>
              <a:rPr lang="en-US" sz="2625" i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ISPRS International Journal of Geo-Information</a:t>
            </a: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, vol. 12, no. 6, art. 227, 2023.</a:t>
            </a:r>
            <a:endParaRPr lang="en-US" sz="2625" dirty="0"/>
          </a:p>
        </p:txBody>
      </p:sp>
      <p:sp>
        <p:nvSpPr>
          <p:cNvPr id="15" name="Shape 12"/>
          <p:cNvSpPr/>
          <p:nvPr/>
        </p:nvSpPr>
        <p:spPr>
          <a:xfrm>
            <a:off x="1143000" y="6610350"/>
            <a:ext cx="16002000" cy="11715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33350" dist="47625" dir="5400000" algn="bl" rotWithShape="0">
              <a:srgbClr val="141E3C">
                <a:alpha val="5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6" name="Text 13"/>
          <p:cNvSpPr/>
          <p:nvPr/>
        </p:nvSpPr>
        <p:spPr>
          <a:xfrm>
            <a:off x="1438275" y="6762750"/>
            <a:ext cx="5143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[4]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2105025" y="6762750"/>
            <a:ext cx="15187041" cy="904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"Predicting errors in accident hotspots and investigating spatiotemporal, weather, and behavioral factors using interpretable machine learning," </a:t>
            </a:r>
            <a:r>
              <a:rPr lang="en-US" sz="2625" i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PLOS ONE</a:t>
            </a: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, 2025.</a:t>
            </a:r>
            <a:endParaRPr lang="en-US" sz="2625" dirty="0"/>
          </a:p>
        </p:txBody>
      </p:sp>
      <p:sp>
        <p:nvSpPr>
          <p:cNvPr id="18" name="Shape 15"/>
          <p:cNvSpPr/>
          <p:nvPr/>
        </p:nvSpPr>
        <p:spPr>
          <a:xfrm>
            <a:off x="1143000" y="7905750"/>
            <a:ext cx="16002000" cy="11715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33350" dist="47625" dir="5400000" algn="bl" rotWithShape="0">
              <a:srgbClr val="141E3C">
                <a:alpha val="5000"/>
              </a:srgbClr>
            </a:outerShdw>
          </a:effectLst>
        </p:spPr>
        <p:txBody>
          <a:bodyPr wrap="square">
            <a:normAutofit/>
          </a:bodyPr>
          <a:p/>
        </p:txBody>
      </p:sp>
      <p:sp>
        <p:nvSpPr>
          <p:cNvPr id="19" name="Text 16"/>
          <p:cNvSpPr/>
          <p:nvPr/>
        </p:nvSpPr>
        <p:spPr>
          <a:xfrm>
            <a:off x="1438275" y="8058150"/>
            <a:ext cx="5143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[5]</a:t>
            </a:r>
            <a:endParaRPr lang="en-US" sz="2100" dirty="0"/>
          </a:p>
        </p:txBody>
      </p:sp>
      <p:sp>
        <p:nvSpPr>
          <p:cNvPr id="20" name="Text 17"/>
          <p:cNvSpPr/>
          <p:nvPr/>
        </p:nvSpPr>
        <p:spPr>
          <a:xfrm>
            <a:off x="2105025" y="8058150"/>
            <a:ext cx="15187041" cy="904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"A study on road accident prediction and contributing factors using explainable machine learning models," </a:t>
            </a:r>
            <a:r>
              <a:rPr lang="en-US" sz="2625" i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ScienceDirect</a:t>
            </a: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, 2023.</a:t>
            </a:r>
            <a:endParaRPr lang="en-US" sz="2625" dirty="0"/>
          </a:p>
        </p:txBody>
      </p:sp>
      <p:sp>
        <p:nvSpPr>
          <p:cNvPr id="21" name="Text 18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75" dirty="0" smtClean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13 </a:t>
            </a: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/ </a:t>
            </a:r>
            <a:r>
              <a:rPr lang="en-US" sz="1800" kern="0" spc="75" dirty="0" smtClean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24399" y="3057525"/>
            <a:ext cx="522149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000" b="1" kern="0" spc="450" dirty="0" smtClean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MINI PROJECT </a:t>
            </a:r>
            <a:r>
              <a:rPr lang="en-US" sz="2000" b="1" kern="0" spc="450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REVIEW — 1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5115572" y="3619500"/>
            <a:ext cx="8056706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0" b="1" kern="0" spc="-150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Thank You</a:t>
            </a:r>
            <a:endParaRPr lang="en-US" sz="10500" dirty="0"/>
          </a:p>
        </p:txBody>
      </p:sp>
      <p:sp>
        <p:nvSpPr>
          <p:cNvPr id="7" name="Text 4"/>
          <p:cNvSpPr/>
          <p:nvPr/>
        </p:nvSpPr>
        <p:spPr>
          <a:xfrm>
            <a:off x="6441958" y="5181600"/>
            <a:ext cx="5403934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315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Questions &amp; Discussion</a:t>
            </a:r>
            <a:endParaRPr lang="en-US" sz="3150" dirty="0"/>
          </a:p>
        </p:txBody>
      </p:sp>
      <p:sp>
        <p:nvSpPr>
          <p:cNvPr id="8" name="Shape 5"/>
          <p:cNvSpPr/>
          <p:nvPr/>
        </p:nvSpPr>
        <p:spPr>
          <a:xfrm>
            <a:off x="8572500" y="6057900"/>
            <a:ext cx="1143000" cy="47625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/>
          </a:bodyPr>
          <a:p/>
        </p:txBody>
      </p:sp>
      <p:sp>
        <p:nvSpPr>
          <p:cNvPr id="9" name="Text 6"/>
          <p:cNvSpPr/>
          <p:nvPr/>
        </p:nvSpPr>
        <p:spPr>
          <a:xfrm>
            <a:off x="3945359" y="6505575"/>
            <a:ext cx="10397282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25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Department of Artificial Intelligence · Anurag University, Hyderabad</a:t>
            </a:r>
            <a:endParaRPr lang="en-US" sz="2250" dirty="0"/>
          </a:p>
        </p:txBody>
      </p:sp>
      <p:sp>
        <p:nvSpPr>
          <p:cNvPr id="10" name="Text 7"/>
          <p:cNvSpPr/>
          <p:nvPr/>
        </p:nvSpPr>
        <p:spPr>
          <a:xfrm>
            <a:off x="4448115" y="6934200"/>
            <a:ext cx="939176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0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AI-Driven Road Accident Risk Zone Detection and Real-Time Alert System</a:t>
            </a:r>
            <a:endParaRPr lang="en-US" sz="2025" dirty="0"/>
          </a:p>
        </p:txBody>
      </p:sp>
      <p:sp>
        <p:nvSpPr>
          <p:cNvPr id="11" name="Text 8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1584</Words>
  <Application>Microsoft Office PowerPoint</Application>
  <PresentationFormat>Custom</PresentationFormat>
  <Paragraphs>305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Bookman Old Style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lenovo</cp:lastModifiedBy>
  <cp:revision>10</cp:revision>
  <dcterms:created xsi:type="dcterms:W3CDTF">2026-06-28T12:25:34Z</dcterms:created>
  <dcterms:modified xsi:type="dcterms:W3CDTF">2026-06-28T13:08:33Z</dcterms:modified>
</cp:coreProperties>
</file>